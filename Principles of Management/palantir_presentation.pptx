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77450" cy="5668962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B3C9E07D-9261-44F1-8890-29749751B91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The following presentation will examine Palantir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technologies using a SWOT analysis, an analysis of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its macroenvironment using the PESTEL framework,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Porter’s Five Forces, and concluding with strategic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and organizational recommendations alongside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ethical considerations.</a:t>
            </a:r>
            <a:endParaRPr b="0" lang="en-US" sz="2000" spc="-1" strike="noStrike">
              <a:latin typeface="Arial"/>
            </a:endParaRPr>
          </a:p>
          <a:p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I’ve summarized the key recommendations here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which will be explained in further detail later in the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presentation. They include developing a lightweight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platform to target smaller clients, scrutinizing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intended use of its platforms and consider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reputational risks and moral hazards associated with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it before agreeing to each contract, and finally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highlighting positive real-life use cases of its 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platforms.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91440" y="5029200"/>
            <a:ext cx="7223760" cy="102387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1800" spc="-1" strike="noStrike" u="sng">
                <a:uFillTx/>
                <a:latin typeface="Arial"/>
              </a:rPr>
              <a:t>History: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Founded by Peter Thiel in 2003 as a “mission oriented company”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intending to apply software like PayPal’s fraud recognition systems “to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reduce terrorism while preserving civil liberties” (Maus Strategic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Consulting, 2014)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 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The CIA became a Palantir customer in 2005 for their intelligence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analytics services, (2) and their venture capital arm In-Q-Tel was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publicly listed as having an equity stake in the company by mid-2006.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(9) (</a:t>
            </a:r>
            <a:r>
              <a:rPr b="0" lang="en-US" sz="1800" spc="-1" strike="noStrike">
                <a:latin typeface="Arial"/>
                <a:ea typeface="PingFang SC"/>
              </a:rPr>
              <a:t>Maus Strategic Consulting, 2014)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 u="sng">
                <a:uFillTx/>
                <a:latin typeface="Arial"/>
              </a:rPr>
              <a:t>Mission: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They wish to create the world’s best user experience for working with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data without the user needing to first master querying languages,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statistical modeling, or the command line (in other words, making it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more accessible). (Palantir Technologies - About, 2023)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 u="sng">
                <a:uFillTx/>
                <a:latin typeface="Arial"/>
              </a:rPr>
              <a:t>Services &amp; Platforms: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- AIP – The latest platform that released in May 2023. An artificial Intelligence Platform, activates Language Learning Models and AI on customer data and integrates with the other platforms.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- Foundry – A data operating system for private companies. It brings together data, analytics, and operational teams and is meant to be a one-stop shop for all their data integration and analytics.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- Gotham – Operating Systems for government departments and agencies, in particular the military. It integrates all privately collected data with all publicly available data and presents findings in real-time in order for users to make timely, data-driven decisions.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- Apollo - Operating System for Continuous Delivery. This was made available as a separate platform for customers in 2022 and is used to manage software infrastructure and deployment to different environments.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(Palantir Technologies - </a:t>
            </a:r>
            <a:r>
              <a:rPr b="0" lang="en-US" sz="1800" spc="-1" strike="noStrike">
                <a:latin typeface="Arial"/>
                <a:ea typeface="PingFang SC"/>
              </a:rPr>
              <a:t>Platforms, 2023).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 u="sng">
                <a:uFillTx/>
                <a:latin typeface="Arial"/>
              </a:rPr>
              <a:t>Current Markets: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- 21 offices across 16 countries in primarily Europe and North America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(Contact,</a:t>
            </a:r>
            <a:r>
              <a:rPr b="0" lang="en-US" sz="1800" spc="-1" strike="noStrike">
                <a:latin typeface="Arial"/>
                <a:ea typeface="PingFang SC"/>
              </a:rPr>
              <a:t> 2023)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  <a:ea typeface="PingFang SC"/>
              </a:rPr>
              <a:t>- 367 customers as of 31 December 2022 in industries ranging from manufacturing, health clinics, pharmaceuticals, to energy (Form 10-K, 2023, pp 6-7)</a:t>
            </a:r>
            <a:endParaRPr b="0" lang="en-US" sz="1800" spc="-1" strike="noStrike">
              <a:latin typeface="Arial"/>
              <a:ea typeface="PingFang SC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77799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800" spc="-1" strike="noStrike" u="sng">
                <a:uFillTx/>
                <a:latin typeface="Arial"/>
              </a:rPr>
              <a:t>Proven data platform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Palantir is a veteran by Silicon Valley standards, having been establish the year before Facebook in 2003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They’ve grown their customer base and developed their platforms over the last twenty years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AIP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Many existing and potential customers have shown an interest in the AIP platform (Karp – Letter to Shareholders, 2023)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The breakthroughs achieved by GPT-4 among other language learning models is testament to the potential of a dedicated AI platform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  <a:ea typeface="PingFang SC"/>
              </a:rPr>
              <a:t>- Palantir already has many years of experience such technology into their other platforms </a:t>
            </a:r>
            <a:r>
              <a:rPr b="0" lang="en-US" sz="1800" spc="-1" strike="noStrike">
                <a:latin typeface="Arial"/>
              </a:rPr>
              <a:t>(Karp – Letter to Shareholders, 2023)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Ethos of innovation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Palantir has taken pains to maintain their culture of innovation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Company was founded in Palo Alto, heart of Silicon Valley before relocating their HQ to Denver in 2020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Strong and unifying mission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Founded to help the US government combat terrorism after 9/11, the company still espouses a mission of safe-guarding our democracy and freedoms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solidFill>
                  <a:srgbClr val="1e2124"/>
                </a:solidFill>
                <a:latin typeface="var headline-300-family"/>
              </a:rPr>
              <a:t>“</a:t>
            </a:r>
            <a:r>
              <a:rPr b="0" lang="en-US" sz="1800" spc="-1" strike="noStrike">
                <a:solidFill>
                  <a:srgbClr val="1e2124"/>
                </a:solidFill>
                <a:latin typeface="var headline-300-family"/>
              </a:rPr>
              <a:t>Our welfare and security depend on effective software.” (Karp, 2020)</a:t>
            </a:r>
            <a:endParaRPr b="0" lang="en-US" sz="18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66553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800" spc="-1" strike="noStrike">
                <a:latin typeface="Arial"/>
              </a:rPr>
              <a:t>Unionization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Unionization has not taken hold yet at Palantir apart from at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their French office. Unionization is growing in the tech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Industry (Clark, 2022), however, and the heavy equity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component of their employee compensation is under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pressure due to an underperforming share value (dropped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from $35 to a low of $6 between January 2021 and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December 2022)</a:t>
            </a:r>
            <a:endParaRPr b="0" lang="en-US" sz="1800" spc="-1" strike="noStrike">
              <a:latin typeface="Arial"/>
              <a:ea typeface="PingFang SC"/>
            </a:endParaRPr>
          </a:p>
          <a:p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Barely Profitable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Palantir recorded their first profitable quarter in Q4 2022.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For Q1 2023 their profit was $17 million out of a revenue of </a:t>
            </a:r>
            <a:endParaRPr b="0" lang="en-US" sz="1800" spc="-1" strike="noStrike">
              <a:latin typeface="Arial"/>
              <a:ea typeface="PingFang SC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$ 525 million (Palantir Technologies, 2023, May 8).</a:t>
            </a:r>
            <a:endParaRPr b="0" lang="en-US" sz="1800" spc="-1" strike="noStrike">
              <a:latin typeface="Arial"/>
              <a:ea typeface="PingFang SC"/>
            </a:endParaRPr>
          </a:p>
          <a:p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Damaged Reputation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Protests have occurred against Palantir’s recruitment drives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at college campuses and among their own employees due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to the company’s contracts with ICE especially, but also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with local law enforcement applying “predictive policing”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(MacMillan &amp; Dwoskin, 2019). </a:t>
            </a:r>
            <a:endParaRPr b="0" lang="en-US" sz="1800" spc="-1" strike="noStrike">
              <a:latin typeface="Arial"/>
              <a:ea typeface="PingFang SC"/>
            </a:endParaRPr>
          </a:p>
          <a:p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Geographic Expansion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Palantir has ruled out China and Russia among others due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to an incompatibility of values and have admitted that this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could hurt them vis-a-vis their competitors that may not </a:t>
            </a:r>
            <a:endParaRPr b="0" lang="en-US" sz="18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</a:rPr>
              <a:t>have similar inhibitions (Form 10-K, 2023, p 26). </a:t>
            </a:r>
            <a:endParaRPr b="0" lang="en-US" sz="1800" spc="-1" strike="noStrike">
              <a:latin typeface="Arial"/>
              <a:ea typeface="PingFang SC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6314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800" spc="-1" strike="noStrike" u="sng">
                <a:uFillTx/>
                <a:latin typeface="Arial"/>
              </a:rPr>
              <a:t>New sectors/market standard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The Foundry platform has proven itself adaptable to any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sector in which it has been applied. It’s early partnership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with Airbus has enabled its modified platform Skywise to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become the standard operating system for the the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airline industry (Form 10-K, 2023, p 7)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Partnerships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Partnerships with cloud vendors are mutually beneficial as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Palantir’s clients deploy their implementation of the Palantir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platforms to different cloud vendors. It is in Palantir and the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cloud vendors’ interest to ensure that this integration is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smooth and easy to maintain. Many potential customers will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have contracts with cloud vendors before they acquire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Palantir’s services. 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Leverage new AI platform for other platforms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The AIP platform has already generated much hype and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interest. If the platform becomes a success, Palantir can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market the complementarity between it and existing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platforms to boost the sales of package deals  </a:t>
            </a:r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encompassing all four platforms. </a:t>
            </a:r>
            <a:endParaRPr b="0" lang="en-US" sz="18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9975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 u="sng">
                <a:uFillTx/>
                <a:latin typeface="Arial"/>
              </a:rPr>
              <a:t>Reputational damage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Palantir has suffered reputational damage from it’s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association with NSA, ICE among others. It has led to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some customers dropping Palantir, such as the New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Orleans Police Department (Ali, 2018).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uFillTx/>
                <a:latin typeface="Arial"/>
              </a:rPr>
              <a:t>Data Breaches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Because Palantir’s platforms are meant to handle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even the most sensitive data of it’s clients, if they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were to suffer from hacking attacks or the insertion of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spyware, this would undermine trust in the platform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and future client orders.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uFillTx/>
                <a:latin typeface="Arial"/>
              </a:rPr>
              <a:t>Government dependance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56 percent of Palantir’s revenues stem from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government contracts. If austerity was to be forced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on government expenditures, this could severely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impact Palantir’s revenue stream (Form 10-K, 2023,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 64).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uFillTx/>
                <a:latin typeface="Arial"/>
              </a:rPr>
              <a:t>Dependance on few, top clients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The top three clients accounted for 17 percent of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revenues in 2022 (</a:t>
            </a:r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Form 10-K, 2023, p 15)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solidFill>
                  <a:srgbClr val="1e2124"/>
                </a:solidFill>
                <a:uFillTx/>
                <a:latin typeface="Alliance No.1;system-ui"/>
                <a:ea typeface="PingFang SC"/>
              </a:rPr>
              <a:t>Dependance on third party software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Palantir must continuously modify and adapt their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platform to the third-party software, hardware and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database technologies in order to maintain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Compatibility. If such third parties stop maintaining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their products or choses to compete with instead of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supporting Palantir’s platforms, it would be costly and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time-consuming externally to find or internally to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solidFill>
                  <a:srgbClr val="1e2124"/>
                </a:solidFill>
                <a:latin typeface="Alliance No.1;system-ui"/>
                <a:ea typeface="PingFang SC"/>
              </a:rPr>
              <a:t>develop replacements. (Form 10-K, 2003, p 20). </a:t>
            </a:r>
            <a:endParaRPr b="0" lang="en-US" sz="2000" spc="-1" strike="noStrike" u="sng"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0" y="4846320"/>
            <a:ext cx="7498080" cy="113932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600" spc="-1" strike="noStrike" u="sng">
                <a:uFillTx/>
                <a:latin typeface="Arial"/>
              </a:rPr>
              <a:t>Political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Palantir is very much embedded in and influenced by the political 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macroenvironment. It’s choice to restrict  its products to the US and US partner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countries means that the size of its potential market is directly influenced by the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diplomacy and foreign policy decisions of the US government.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The Gotham platform is popular among military branches, and wars or 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heightened tensions could increase demand for this platform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Its involvement in politically sensitive fields like immigration and law enforcement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both entail reputational risks and opportunities in so far as it may go where other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companies would not. </a:t>
            </a:r>
            <a:endParaRPr b="0" lang="en-US" sz="1600" spc="-1" strike="noStrike">
              <a:latin typeface="Arial"/>
              <a:ea typeface="PingFang SC"/>
            </a:endParaRPr>
          </a:p>
          <a:p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 u="sng">
                <a:uFillTx/>
                <a:latin typeface="Arial"/>
              </a:rPr>
              <a:t>Economic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Being a third-party data platform provider, Palantir could be viewed as a non-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essential expense to be axed by companies in the event of a recession which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many analysts are predicting by the end of 2023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Conversely, if a recession is avoided, Palantir’s expansion will most likely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continue unabated</a:t>
            </a:r>
            <a:endParaRPr b="0" lang="en-US" sz="1600" spc="-1" strike="noStrike">
              <a:latin typeface="Arial"/>
              <a:ea typeface="PingFang SC"/>
            </a:endParaRPr>
          </a:p>
          <a:p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 u="sng">
                <a:uFillTx/>
                <a:latin typeface="Arial"/>
              </a:rPr>
              <a:t>Social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The Generation Z cohort entering the labor market in larger numbers are much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more likely to boycott companies for due to political or social stances, and only 1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out of 5 would work for a company with which they don’t share values (Carnegie,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2002). This could present a recruitment challenge.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 A more ethnically diverse population calls for a DEI strategy to broaden their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recruitment pool</a:t>
            </a:r>
            <a:endParaRPr b="0" lang="en-US" sz="1600" spc="-1" strike="noStrike">
              <a:latin typeface="Arial"/>
              <a:ea typeface="PingFang SC"/>
            </a:endParaRPr>
          </a:p>
          <a:p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 u="sng">
                <a:uFillTx/>
                <a:latin typeface="Arial"/>
              </a:rPr>
              <a:t>Technological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An increasing acceptance and adoption of the uses of AI and machine learning to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solve tasks will be a boon to Palantir given it’s experience in this field and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upcoming platform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The rapidly evolving field of data mining, data analysis and AI means that Palantir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needs to continue investing heavily in R&amp;D to avoid falling behind </a:t>
            </a:r>
            <a:endParaRPr b="0" lang="en-US" sz="1600" spc="-1" strike="noStrike">
              <a:latin typeface="Arial"/>
              <a:ea typeface="PingFang SC"/>
            </a:endParaRPr>
          </a:p>
          <a:p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 u="sng">
                <a:uFillTx/>
                <a:latin typeface="Arial"/>
              </a:rPr>
              <a:t>Environmental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Businesses today are expected to contribute towards reducing  greenhouse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gasses in order to mitigate climate change. Palantir has been on board with this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agenda with a 2019 commitment to carbon neutrality by the end of 2021. (Palantir,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2021, October 7)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- A CSR strategy clearly elucidating intended use cases of its products and what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constitutes misuse would help thwarting the notion that Palantir enables human 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>
                <a:latin typeface="Arial"/>
              </a:rPr>
              <a:t>rights abuses or privacy infringements</a:t>
            </a:r>
            <a:endParaRPr b="0" lang="en-US" sz="1600" spc="-1" strike="noStrike">
              <a:latin typeface="Arial"/>
              <a:ea typeface="PingFang SC"/>
            </a:endParaRPr>
          </a:p>
          <a:p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600" spc="-1" strike="noStrike" u="sng">
                <a:uFillTx/>
                <a:latin typeface="Arial"/>
              </a:rPr>
              <a:t>Legal</a:t>
            </a:r>
            <a:endParaRPr b="0" lang="en-US" sz="1600" spc="-1" strike="noStrike">
              <a:latin typeface="Arial"/>
              <a:ea typeface="PingFang SC"/>
            </a:endParaRPr>
          </a:p>
          <a:p>
            <a:r>
              <a:rPr b="0" lang="en-US" sz="1800" spc="-1" strike="noStrike">
                <a:latin typeface="Arial"/>
                <a:ea typeface="PingFang SC"/>
              </a:rPr>
              <a:t>- Palantir is subject to complex and evolving US and foreign laws and </a:t>
            </a:r>
            <a:endParaRPr b="0" lang="en-US" sz="1800" spc="-1" strike="noStrike">
              <a:latin typeface="0"/>
            </a:endParaRPr>
          </a:p>
          <a:p>
            <a:r>
              <a:rPr b="0" lang="en-US" sz="1800" spc="-1" strike="noStrike">
                <a:latin typeface="Arial"/>
                <a:ea typeface="PingFang SC"/>
              </a:rPr>
              <a:t>regulations on privacy, data protection and security (Form 10-K, 2023, p 39)</a:t>
            </a:r>
            <a:endParaRPr b="0" lang="en-US" sz="1800" spc="-1" strike="noStrike">
              <a:latin typeface="0"/>
            </a:endParaRPr>
          </a:p>
          <a:p>
            <a:r>
              <a:rPr b="0" lang="en-US" sz="1800" spc="-1" strike="noStrike">
                <a:latin typeface="Arial"/>
                <a:ea typeface="PingFang SC"/>
              </a:rPr>
              <a:t>- After it’s IPO in 2020, Palantir is now vulnerable to class lawsuits from </a:t>
            </a:r>
            <a:endParaRPr b="0" lang="en-US" sz="1800" spc="-1" strike="noStrike">
              <a:latin typeface="0"/>
            </a:endParaRPr>
          </a:p>
          <a:p>
            <a:r>
              <a:rPr b="0" lang="en-US" sz="1800" spc="-1" strike="noStrike">
                <a:latin typeface="Arial"/>
                <a:ea typeface="PingFang SC"/>
              </a:rPr>
              <a:t>investors over misleading statements as already happened in 2022 (McAfee, 2022). </a:t>
            </a:r>
            <a:endParaRPr b="0" lang="en-US" sz="1800" spc="-1" strike="noStrike">
              <a:latin typeface="0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274320" y="5029200"/>
            <a:ext cx="6949440" cy="9183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800" spc="-1" strike="noStrike" u="sng">
                <a:uFillTx/>
                <a:latin typeface="Arial"/>
              </a:rPr>
              <a:t>Bargaining power of buyers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I would rate this as high. The majority of Palantir’s revenue stems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from government contracts, and any federal government contract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contract worth more than $100,000 must go through a competitive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bidding process that limits Palantir’s bargaining power and forces it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to engage in competitive pricing with its competitors.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- Customers are also provided a lengthy (and for Palantir costly) pilot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process with the platforms free of charge, which often results in a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discontinuation instead of a contract. </a:t>
            </a:r>
            <a:endParaRPr b="0" lang="en-US" sz="1800" spc="-1" strike="noStrike" u="sng">
              <a:uFillTx/>
              <a:latin typeface="Arial"/>
            </a:endParaRPr>
          </a:p>
          <a:p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Bargaining power of suppliers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I would rate this as low. There are many competing hardware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suppliers especially but also alternative cloud vendors (AWS, Azure,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Digital Ocean, IBM Cloud etc.) that Palantir could switch between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using their own deployment platform.</a:t>
            </a:r>
            <a:endParaRPr b="0" lang="en-US" sz="1800" spc="-1" strike="noStrike" u="sng">
              <a:uFillTx/>
              <a:latin typeface="Arial"/>
            </a:endParaRPr>
          </a:p>
          <a:p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Threat of new entrants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I would rate this as medium. While the data and technology sector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witnesses many new startups and entrants, Palantir targets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complex, large-scale, high-risk opportunities that leaves smaller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companies at a disadvantage (Form 10-K, 2023, p 8), and thus the threat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emanates mainly from large, well-established tech companies. </a:t>
            </a:r>
            <a:endParaRPr b="0" lang="en-US" sz="1800" spc="-1" strike="noStrike" u="sng">
              <a:uFillTx/>
              <a:latin typeface="Arial"/>
            </a:endParaRPr>
          </a:p>
          <a:p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 u="sng">
                <a:uFillTx/>
                <a:latin typeface="Arial"/>
              </a:rPr>
              <a:t>Threat of substitutes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I would rate this as high. Palantir is especially competing with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companies’ ability to build out their own data platforms in-house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using own tech employees or external consultants, and this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backup option constricts Palantir in its price setting. (Form 10-K, 2023, p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11)</a:t>
            </a:r>
            <a:endParaRPr b="0" lang="en-US" sz="1800" spc="-1" strike="noStrike" u="sng">
              <a:uFillTx/>
              <a:latin typeface="Arial"/>
            </a:endParaRPr>
          </a:p>
          <a:p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 u="sng">
                <a:uFillTx/>
                <a:latin typeface="0"/>
                <a:ea typeface="PingFang SC"/>
              </a:rPr>
              <a:t>Rivalry among existing competitors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I would rate this as medium. There is rivalry but the field of competitors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providing the type of product that Palantir provides is limited. The set of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competitors are also different in the government space than in the </a:t>
            </a:r>
            <a:endParaRPr b="0" lang="en-US" sz="1800" spc="-1" strike="noStrike" u="sng">
              <a:uFillTx/>
              <a:latin typeface="Arial"/>
            </a:endParaRPr>
          </a:p>
          <a:p>
            <a:r>
              <a:rPr b="0" lang="en-US" sz="1800" spc="-1" strike="noStrike">
                <a:latin typeface="0"/>
                <a:ea typeface="PingFang SC"/>
              </a:rPr>
              <a:t>commercial space. </a:t>
            </a:r>
            <a:endParaRPr b="0" lang="en-US" sz="1800" spc="-1" strike="noStrike" u="sng"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559200" cy="765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 u="sng">
                <a:uFillTx/>
                <a:latin typeface="Arial"/>
              </a:rPr>
              <a:t>Lightweight platform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Palantir has fewer than 400 customers because the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size and scale of its platform limits it to larger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organizations. A lighter and cheaper platform would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enable it to target the tens of millions of small and medium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size enterprises in the US and world-wide.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uFillTx/>
                <a:latin typeface="Arial"/>
              </a:rPr>
              <a:t>Scrutinize clients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 would argue that the reputational harm caused by having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its platform used for controversial ends by ICE, NSA and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certain police departments outweighed the benefits that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those revenue streams provided. It would benefit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Palantir to avoid such occurrences in the future by more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closely scrutinizing the uses of its platforms and by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publicly stating its values to which its customers must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adhere.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uFillTx/>
                <a:latin typeface="Arial"/>
              </a:rPr>
              <a:t>Showcase positive outcomes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Palantir’s services is in many instances used for ends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that the general public would applaud. For example,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Palantir has partnered with the World Food Programme to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provide a data platform to help end world hunger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(Berning, 2021).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Highlighting such instances would both counteract the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negative narrative often surrounding Palantir as well as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market the efficacy of its platform to potential customers.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51001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 u="sng">
                <a:uFillTx/>
                <a:latin typeface="Arial"/>
              </a:rPr>
              <a:t>AIP platform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- Palantir cut 2% of its workforce in early 2023 (Capoot, 2023).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- Given the large interest and hype in the AIP platform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as well as the moral and commercial stakes involved,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 recommend dedicating a large team with a diverse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set of roles to ensure a correct  and smooth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implementation. 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 u="sng">
                <a:uFillTx/>
                <a:latin typeface="Arial"/>
              </a:rPr>
              <a:t>Align marketing and business strategy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- Palantir has a relatively small sales team, yet with a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stated goal of capturing the world with its AI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technology (Chapman, 2023), relying on word of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Mouth, positive customer reviews and a small team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of client handlers seems insufficient and a larger and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more aggressive marketing campaign would buttress </a:t>
            </a:r>
            <a:endParaRPr b="0" lang="en-US" sz="2000" spc="-1" strike="noStrike" u="sng">
              <a:uFillTx/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this market strategy.</a:t>
            </a:r>
            <a:endParaRPr b="0" lang="en-US" sz="2000" spc="-1" strike="noStrike" u="sng">
              <a:uFillTx/>
              <a:latin typeface="Arial"/>
            </a:endParaRPr>
          </a:p>
          <a:p>
            <a:endParaRPr b="0" lang="en-US" sz="2000" spc="-1" strike="noStrike" u="sng"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 u="sng">
                <a:uFillTx/>
                <a:latin typeface="Arial"/>
              </a:rPr>
              <a:t>EDI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While Palantir recognizes the importance of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recruitment from a diverse set of backgrounds and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does have an EDI team, an official, publicly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available EDI strategy would make it appear more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welcoming to minority employee candidates.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 u="sng">
                <a:uFillTx/>
                <a:latin typeface="Arial"/>
              </a:rPr>
              <a:t>Clear guardrails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Clear guardrails would make it clear to the outside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world that Palantir is dedicated to respecting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individual privacy, and that measures are taken to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ensure that the worst prophesies of AI technology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(such as a machine takeover) do not come to pass.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 u="sng">
                <a:uFillTx/>
                <a:latin typeface="Arial"/>
              </a:rPr>
              <a:t>CSR strategy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CEO Kars claims that Palantir walks away from as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much as 20% of possible revenue for ethical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reasons” (Maus Strategic Consulting, 2014). A CSR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strategy akin to its climate pledge would enhance its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reputation among all existing and potential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stakeholders and provide it with a compass to abide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by.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8040" cy="32875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04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12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0520" y="1326240"/>
            <a:ext cx="442512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143640" y="71640"/>
            <a:ext cx="9535680" cy="3001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0520" y="1326240"/>
            <a:ext cx="442512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12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0520" y="13262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0520" y="30434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0520" y="13262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906804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04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3640" y="3043440"/>
            <a:ext cx="906804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0520" y="13262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3640" y="30434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0520" y="3043440"/>
            <a:ext cx="442512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29196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69760" y="1326240"/>
            <a:ext cx="29196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5520" y="1326240"/>
            <a:ext cx="29196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3640" y="3043440"/>
            <a:ext cx="29196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69760" y="3043440"/>
            <a:ext cx="29196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5520" y="3043440"/>
            <a:ext cx="2919600" cy="1567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42C1C41B-C2A7-4639-B452-D70A8A1A054F}" type="author"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fld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143640" y="71640"/>
            <a:ext cx="9535680" cy="64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04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www.cnbc.com/2023/02/27/palantir-layoffs-75-employees-2percent-of-" TargetMode="External"/><Relationship Id="rId2" Type="http://schemas.openxmlformats.org/officeDocument/2006/relationships/hyperlink" Target="https://www.bbc.com/worklife/article/20220803-gen-z-how-young-people-are-" TargetMode="External"/><Relationship Id="rId3" Type="http://schemas.openxmlformats.org/officeDocument/2006/relationships/hyperlink" Target="https://www.bloomberg.com/news/newsletters/2023-05-10/palantir-s-plan-" TargetMode="External"/><Relationship Id="rId4" Type="http://schemas.openxmlformats.org/officeDocument/2006/relationships/hyperlink" Target="https://www.palantir.com/newsroom/letters/direct-listing-letter/" TargetMode="External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www.palantir.com/newsroom/letters/the-s-and-p-500/en/" TargetMode="External"/><Relationship Id="rId2" Type="http://schemas.openxmlformats.org/officeDocument/2006/relationships/hyperlink" Target="https://www.washingtonpost.com/business/2019/08/22/war-inside-palantir-data-mining-" TargetMode="External"/><Relationship Id="rId3" Type="http://schemas.openxmlformats.org/officeDocument/2006/relationships/hyperlink" Target="https://web.archive.org/web/20140516035733/http://" TargetMode="External"/><Relationship Id="rId4" Type="http://schemas.openxmlformats.org/officeDocument/2006/relationships/hyperlink" Target="http://www.mausstrategicconsulting.com/1/post/2014/04/a-pretty-complete-history-" TargetMode="External"/><Relationship Id="rId5" Type="http://schemas.openxmlformats.org/officeDocument/2006/relationships/hyperlink" Target="https://news.bloomberglaw.com/litigation/palantir-hit-with-" TargetMode="External"/><Relationship Id="rId6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www.palantir.com/assets/xrfr7uokpv1b/3XcKUFl9e6UaWtuSqlcLAj/" TargetMode="External"/><Relationship Id="rId2" Type="http://schemas.openxmlformats.org/officeDocument/2006/relationships/hyperlink" Target="https://d18rn0p25nwr6d.cloudfront.net/CIK-" TargetMode="External"/><Relationship Id="rId3" Type="http://schemas.openxmlformats.org/officeDocument/2006/relationships/hyperlink" Target="https://investors.palantir.com/news-" TargetMode="External"/><Relationship Id="rId4" Type="http://schemas.openxmlformats.org/officeDocument/2006/relationships/hyperlink" Target="https://www.palantir.com/contact/" TargetMode="External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www.palantir.com/platforms/" TargetMode="External"/><Relationship Id="rId2" Type="http://schemas.openxmlformats.org/officeDocument/2006/relationships/hyperlink" Target="https://federalnewsnetwork.com/acquisition/2018/09/court-army-ignored-" TargetMode="External"/><Relationship Id="rId3" Type="http://schemas.openxmlformats.org/officeDocument/2006/relationships/hyperlink" Target="https://www.theverge.com/2018/3/15/17126174/new-orleans-palantir-predictive-" TargetMode="External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514080" y="6663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333333"/>
                </a:solidFill>
                <a:latin typeface="Helvetica Neue"/>
                <a:ea typeface="DejaVu Sans"/>
              </a:rPr>
              <a:t>Palantir Technologies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</a:rPr>
              <a:t>Presentation of Palantir Technologies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</a:rPr>
              <a:t>William Jackson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</a:rPr>
              <a:t>Principles of Management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</a:rPr>
              <a:t>Sophia Learning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</a:rPr>
              <a:t>May 24, 2023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417960" y="34812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3017880" y="1197720"/>
            <a:ext cx="4754520" cy="35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r>
              <a:rPr b="1" i="1" lang="en-US" sz="2200" spc="-1" strike="noStrike">
                <a:solidFill>
                  <a:srgbClr val="000000"/>
                </a:solidFill>
                <a:latin typeface="Arial"/>
              </a:rPr>
              <a:t>Key Recommendations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Shape 3"/>
          <p:cNvSpPr txBox="1"/>
          <p:nvPr/>
        </p:nvSpPr>
        <p:spPr>
          <a:xfrm>
            <a:off x="2279160" y="182880"/>
            <a:ext cx="5493240" cy="741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DejaVu Sans"/>
              </a:rPr>
              <a:t>Executive Summary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Shape 4"/>
          <p:cNvSpPr txBox="1"/>
          <p:nvPr/>
        </p:nvSpPr>
        <p:spPr>
          <a:xfrm>
            <a:off x="270360" y="1928160"/>
            <a:ext cx="9788040" cy="2278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- Develop a lightweight platform to target smaller clients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- Carefully scrutinize how clients intend to use its platforms before agreeing to provide its services and consider reputational risks thereof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- Heavily showcase real-life use cases of its platforms that have had socially positive outcomes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147960" y="-18288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1188720" y="1843560"/>
            <a:ext cx="6309000" cy="216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latin typeface="Arial"/>
              </a:rPr>
              <a:t>- History of the organization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2200" spc="-1" strike="noStrike">
                <a:latin typeface="Arial"/>
              </a:rPr>
              <a:t>- Mission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2200" spc="-1" strike="noStrike">
                <a:latin typeface="Arial"/>
              </a:rPr>
              <a:t>- Services and platforms provided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2200" spc="-1" strike="noStrike">
                <a:latin typeface="Arial"/>
                <a:ea typeface="PingFang SC"/>
              </a:rPr>
              <a:t>	</a:t>
            </a:r>
            <a:r>
              <a:rPr b="0" i="1" lang="en-US" sz="2200" spc="-1" strike="noStrike">
                <a:latin typeface="Arial"/>
                <a:ea typeface="PingFang SC"/>
              </a:rPr>
              <a:t>- (AIP, Foundry, Gotham, Apollo, </a:t>
            </a:r>
            <a:r>
              <a:rPr b="0" i="1" lang="en-US" sz="2200" spc="-1" strike="noStrike">
                <a:latin typeface="Arial"/>
              </a:rPr>
              <a:t>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2200" spc="-1" strike="noStrike">
                <a:latin typeface="Arial"/>
              </a:rPr>
              <a:t>- Current markets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3" name="CustomShape 3"/>
          <p:cNvSpPr/>
          <p:nvPr/>
        </p:nvSpPr>
        <p:spPr>
          <a:xfrm>
            <a:off x="1828800" y="172800"/>
            <a:ext cx="7131960" cy="13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</a:rPr>
              <a:t>Organizational Background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Internal Strengths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1280160" y="1593720"/>
            <a:ext cx="640080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solidFill>
                  <a:srgbClr val="333333"/>
                </a:solidFill>
                <a:latin typeface="Arial"/>
              </a:rPr>
              <a:t>-</a:t>
            </a:r>
            <a:r>
              <a:rPr b="0" i="1" lang="en-US" sz="2200" spc="-1" strike="noStrike">
                <a:latin typeface="Arial"/>
              </a:rPr>
              <a:t> Proven data platform 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Potentially transformative new platform (AIP)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Silicon Valley ethos of innovation 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Strong and unifying mission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Internal Weaknesses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1189080" y="1227960"/>
            <a:ext cx="576036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Unionization could force increase in salary expenses and a departure from stock-based compensation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Barely profitable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Damaged reputation among prospective employees due to use of its software for controversial ends 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Geographic expansion limited due to focus on relationships with US partner countries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External Opportunities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822960" y="128016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Shape 3"/>
          <p:cNvSpPr txBox="1"/>
          <p:nvPr/>
        </p:nvSpPr>
        <p:spPr>
          <a:xfrm>
            <a:off x="759600" y="1280160"/>
            <a:ext cx="9938880" cy="2903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Expansion into new new sectors and become the de-facto standard data operating system in existing sectors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Expansion of partnerships with AWS, Azure and other cloud vendors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Leveraging successful implementation of its newer AI platform to increase </a:t>
            </a:r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sales of the combined platforms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Taking advantage of tech layoffs to hire experienced software engineers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External Threats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Shape 3"/>
          <p:cNvSpPr txBox="1"/>
          <p:nvPr/>
        </p:nvSpPr>
        <p:spPr>
          <a:xfrm>
            <a:off x="210600" y="1382400"/>
            <a:ext cx="10188720" cy="38401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Further reputational damage from “guilt by association” with clients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Data breaches could undermine trust in the platform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High dependance on government contracts that are vulnerable to </a:t>
            </a:r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austerity measures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L</a:t>
            </a:r>
            <a:r>
              <a:rPr b="0" i="1" lang="en-US" sz="2200" spc="-1" strike="noStrike">
                <a:latin typeface="Arial"/>
                <a:ea typeface=""/>
              </a:rPr>
              <a:t>imited number of customers account for a disproportionally large share </a:t>
            </a:r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  <a:ea typeface=""/>
              </a:rPr>
              <a:t>of revenue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  <a:ea typeface=""/>
              </a:rPr>
              <a:t>- Dependance on integration with third-party software that may be withdrawn, </a:t>
            </a:r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  <a:ea typeface=""/>
              </a:rPr>
              <a:t>no longer maintained, or suffer bugs or other defects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DejaVu Sans"/>
              </a:rPr>
              <a:t>Macroenvironment Analysis: PESTEL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</p:txBody>
      </p:sp>
      <p:sp>
        <p:nvSpPr>
          <p:cNvPr id="65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Shape 3"/>
          <p:cNvSpPr txBox="1"/>
          <p:nvPr/>
        </p:nvSpPr>
        <p:spPr>
          <a:xfrm>
            <a:off x="210600" y="1382400"/>
            <a:ext cx="10188720" cy="3527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Political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Economic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Social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Technological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Environmental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Legal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DejaVu Sans"/>
              </a:rPr>
              <a:t>Micro Industry Analysis: Porter’s Five Forces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Shape 3"/>
          <p:cNvSpPr txBox="1"/>
          <p:nvPr/>
        </p:nvSpPr>
        <p:spPr>
          <a:xfrm>
            <a:off x="548640" y="1828800"/>
            <a:ext cx="6400800" cy="3383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Bargaining power of buyers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2200" spc="-1" strike="noStrike">
                <a:latin typeface="Arial"/>
              </a:rPr>
              <a:t>- Bargaining power of suppliers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Threat of new entrants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Threat of substitutes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Rivalry among existing competitors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DejaVu Sans"/>
              </a:rPr>
              <a:t>Generic Strategy Recommendations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Shape 3"/>
          <p:cNvSpPr txBox="1"/>
          <p:nvPr/>
        </p:nvSpPr>
        <p:spPr>
          <a:xfrm>
            <a:off x="640080" y="1554480"/>
            <a:ext cx="7680960" cy="2926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Develop a lightweight platform to target smaller clients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Carefully scrutinize how clients intend to use its platforms before agreeing to provide its services and consider  reputational risks thereof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Heavily showcase real-life use cases of its platforms that have had socially positive outcomes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  <a:ea typeface="PingFang SC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DejaVu Sans"/>
              </a:rPr>
              <a:t>Organizational Design Recommendations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Shape 3"/>
          <p:cNvSpPr txBox="1"/>
          <p:nvPr/>
        </p:nvSpPr>
        <p:spPr>
          <a:xfrm>
            <a:off x="411120" y="1694880"/>
            <a:ext cx="9788040" cy="2278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Reverse layoff trend and dedicate highly-skilled AI engineers and ethicists to a dedicated AIP department to ensure a technically smooth and ethically sound AIP platform rollout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Align marketing strategy with its business strategy 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  <a:ea typeface="PingFang SC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Ethical Considerations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2468880" y="1645920"/>
            <a:ext cx="4754520" cy="1423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Shape 3"/>
          <p:cNvSpPr txBox="1"/>
          <p:nvPr/>
        </p:nvSpPr>
        <p:spPr>
          <a:xfrm>
            <a:off x="365760" y="1379880"/>
            <a:ext cx="9226080" cy="2590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i="1" lang="en-US" sz="2200" spc="-1" strike="noStrike">
                <a:latin typeface="Arial"/>
              </a:rPr>
              <a:t>- Develop and implement a visible Equity, Diversity and Inclusion Strategy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Set clear guardrails for the use of its AIP platform in terms of respect for privacy and ensured human control</a:t>
            </a:r>
            <a:endParaRPr b="0" lang="en-US" sz="2200" spc="-1" strike="noStrike">
              <a:latin typeface="Arial"/>
            </a:endParaRPr>
          </a:p>
          <a:p>
            <a:endParaRPr b="0" lang="en-US" sz="2200" spc="-1" strike="noStrike">
              <a:latin typeface="Arial"/>
            </a:endParaRPr>
          </a:p>
          <a:p>
            <a:r>
              <a:rPr b="0" i="1" lang="en-US" sz="2200" spc="-1" strike="noStrike">
                <a:latin typeface="Arial"/>
              </a:rPr>
              <a:t>- Develop a CSR strategy that clearly outlines human rights standards that customers of its platform must adhere to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  <a:ea typeface="PingFang SC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701640" y="707040"/>
            <a:ext cx="8686440" cy="370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Berning, Jack. (2021, August 2). Ending world hunger: Can data pave the way?. Freethink.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https://www.freethink.com/hard-tech/end-world-hunger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Capoot, Ashley. (2023, February 27). Palantir to cut about 2% of employees, roughly 75 jobs.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CNBC.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1"/>
              </a:rPr>
              <a:t>https://www.cnbc.com/2023/02/27/palantir-layoffs-75-employees-2percent-of-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workforce.html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Carnegie, Megan. (2022, August 8). Gen Z: How young people are changing activism. BBC.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2"/>
              </a:rPr>
              <a:t>https://www.bbc.com/worklife/article/20220803-gen-z-how-young-people-are-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changing-activism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Chapman, Lizette (2023, May 10). Palantir’s Plan for AI: ‘Just Take the Whole Market’.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Bloomberg.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3"/>
              </a:rPr>
              <a:t>https://www.bloomberg.com/news/newsletters/2023-05-10/palantir-s-plan-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for-ai-just-take-the-whole-market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Clark, Peter Allen (2022, December 12). The year labor organizing came to tech. Axios.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Karp, Alexander. (2020). Direct Listing Letter.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4"/>
              </a:rPr>
              <a:t>https://www.palantir.com/newsroom/letters/direct-listing-letter/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  <a:ea typeface="PingFang SC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701640" y="707040"/>
            <a:ext cx="8686440" cy="370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Karp, Alexander. (2023, April 19). The S&amp;P 500.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1"/>
              </a:rPr>
              <a:t>https://www.palantir.com/newsroom/letters/the-s-and-p-500/en/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Karp, Alexandr. (2023, May 8). Letter to Shareholders.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https://www.palantir.com/newsroom/letters/letter-to-shareholders/may-8-2023/en/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  <a:ea typeface="PingFang SC"/>
              </a:rPr>
              <a:t>MacMillan, Douglas &amp; Dwoskin,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Elizabeth (2019, August 22). The war inside Palantir: Data-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mining firm’s ties to ICE under attack by employees. Washington Post.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2"/>
              </a:rPr>
              <a:t>https://www.washingtonpost.com/business/2019/08/22/war-inside-palantir-data-mining-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firms-ties-ice-under-attack-by-employees/?arc404=true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Maus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 Strategic Consulting. (2014, April 27). A (Pretty) Complete History of Palantir. 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3"/>
              </a:rPr>
              <a:t>https://web.archive.org/web/20140516035733/http://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4"/>
              </a:rPr>
              <a:t>www.mausstrategicconsulting.com/1/post/2014/04/a-pretty-complete-history-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of-palantir.html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McAfee, David. (2022, September 16). Palantir Hit With Class Suit Over Stock Drop After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Disclosures. Bloomberg Law.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5"/>
              </a:rPr>
              <a:t>https://news.bloomberglaw.com/litigation/palantir-hit-with-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class-suit-over-stock-drop-after-disclosures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  <a:ea typeface="PingFang SC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701640" y="707040"/>
            <a:ext cx="8686440" cy="370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Palantir Technologies. (2021, October, 7). Palantir Technologies Commits to Carbon-Neutrality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by the End of 2021.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(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1"/>
              </a:rPr>
              <a:t>https://www.palantir.com/assets/xrfr7uokpv1b/3XcKUFl9e6UaWtuSqlcLAj/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a24508da64c36747c182302f1326edd7/Palantir_Climate_Pledge_2021.pdf)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Palantir Technologies Inc. Form 10-K. (2023). United States Securities and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Exchange Commission.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2"/>
              </a:rPr>
              <a:t>https://d18rn0p25nwr6d.cloudfront.net/CIK-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0001321655/71a5b9c1-b1b9-485e-a7d6-37c5de23cc45.pdf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Palantir Technologies. (2023, May 8). Palantir Reports Its Second Consecutive Quarter of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Positive GAAP Net Income; GAAP EPS of $0.01 in Q1 2023.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3"/>
              </a:rPr>
              <a:t>https://investors.palantir.com/news-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details/2023/Palantir-Reports-Its-Second-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Consecutive-Quarter-of-Positive-GAAP-Net-Income-GAAP-EPS-of-0.01-in-Q1-2023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Palantir Technologies. (2023, May 24). About. https://www.palantir.com/about/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Palantir Technologies. (2023, May 24). Contact.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4"/>
              </a:rPr>
              <a:t>https://www.palantir.com/contact/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47c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417960" y="164160"/>
            <a:ext cx="8995680" cy="65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Helvetica Neue"/>
                <a:ea typeface="PingFang SC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Helvetica Neue"/>
                <a:ea typeface="DejaVu Sans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701640" y="707040"/>
            <a:ext cx="8686440" cy="370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Palantir Technologies. (2023, May 24). Platforms.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1"/>
              </a:rPr>
              <a:t>https://www.palantir.com/platforms/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Posner, Michael. (2002, September 12). How Palantir Falls Short of Responsible Corporate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Conduct. Forbes.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Serbu, Jared. (2018, September 17). Court: Army ignored law’s preference for commercial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items in major intel procurement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2"/>
              </a:rPr>
              <a:t>https://federalnewsnetwork.com/acquisition/2018/09/court-army-ignored-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laws-preference-for-commercial-items-in-major-intel-procurement/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Winston, Ali. (2018, March 15). New Orleans ends its Palantir predictive policing program. The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Verge. 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  <a:hlinkClick r:id="rId3"/>
              </a:rPr>
              <a:t>https://www.theverge.com/2018/3/15/17126174/new-orleans-palantir-predictive-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	</a:t>
            </a:r>
            <a:r>
              <a:rPr b="0" lang="en-US" sz="1600" spc="-1" strike="noStrike">
                <a:solidFill>
                  <a:srgbClr val="000000"/>
                </a:solidFill>
                <a:latin typeface="Helvetica Neue"/>
              </a:rPr>
              <a:t>policing-program-end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Application>LibreOffice/6.4.1.2$MacOSX_X86_64 LibreOffice_project/4d224e95b98b138af42a64d84056446d09082932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2023-05-15T19:41:55Z</dcterms:created>
  <dc:creator/>
  <dc:description/>
  <dc:language>en-US</dc:language>
  <cp:lastModifiedBy/>
  <dcterms:modified xsi:type="dcterms:W3CDTF">2023-05-26T16:06:57Z</dcterms:modified>
  <cp:revision>4</cp:revision>
  <dc:subject/>
  <dc:title>Portfolio</dc:title>
</cp:coreProperties>
</file>
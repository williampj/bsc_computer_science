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qEJz6x7k26RbLIHCh12UbUodi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1633"/>
  </p:normalViewPr>
  <p:slideViewPr>
    <p:cSldViewPr snapToGrid="0">
      <p:cViewPr varScale="1">
        <p:scale>
          <a:sx n="101" d="100"/>
          <a:sy n="101" d="100"/>
        </p:scale>
        <p:origin x="2504"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 </a:t>
            </a:r>
            <a:r>
              <a:rPr lang="en">
                <a:solidFill>
                  <a:schemeClr val="dk1"/>
                </a:solidFill>
              </a:rPr>
              <a:t>Your title slide is the first slide and should</a:t>
            </a:r>
            <a:r>
              <a:rPr lang="en">
                <a:solidFill>
                  <a:srgbClr val="222222"/>
                </a:solidFill>
              </a:rPr>
              <a:t> include your name, the date, and the name of the organization you selected.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 </a:t>
            </a:r>
            <a:r>
              <a:rPr lang="en" b="0">
                <a:solidFill>
                  <a:schemeClr val="dk1"/>
                </a:solidFill>
              </a:rPr>
              <a:t>An executive summary should include the main points of your presentation in 1-2 slides (no more than 2). It should also include your recommendations in 1-3 bullet points. As a general rule, it is usually best (and easiest) to write the executive summary last—after the rest of your presentation is completed.</a:t>
            </a:r>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 b="1">
                <a:solidFill>
                  <a:schemeClr val="dk1"/>
                </a:solidFill>
              </a:rPr>
              <a:t>Speaker Note Instructions: </a:t>
            </a:r>
            <a:r>
              <a:rPr lang="en" sz="1100" b="0" i="0" u="none" strike="noStrike" cap="none">
                <a:solidFill>
                  <a:srgbClr val="000000"/>
                </a:solidFill>
                <a:latin typeface="Arial"/>
                <a:ea typeface="Arial"/>
                <a:cs typeface="Arial"/>
                <a:sym typeface="Aria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dirty="0"/>
              <a:t>Slide Instructions: </a:t>
            </a:r>
            <a:r>
              <a:rPr lang="en" b="0" dirty="0">
                <a:solidFill>
                  <a:schemeClr val="dk1"/>
                </a:solidFill>
              </a:rPr>
              <a:t>The organization background should be brief—no more than 1-2 slides. It should include a brief history of the organization, in addition the the major products or services offered and the markets that are served. </a:t>
            </a:r>
            <a:r>
              <a:rPr lang="en-US" b="0" dirty="0">
                <a:solidFill>
                  <a:schemeClr val="dk1"/>
                </a:solidFill>
              </a:rPr>
              <a:t>Other possible categories include the founding date, mission statement, annual profits, sales regions, etc.</a:t>
            </a:r>
            <a:endParaRPr dirty="0"/>
          </a:p>
          <a:p>
            <a:pPr marL="0" lvl="0" indent="0" algn="l" rtl="0">
              <a:lnSpc>
                <a:spcPct val="100000"/>
              </a:lnSpc>
              <a:spcBef>
                <a:spcPts val="0"/>
              </a:spcBef>
              <a:spcAft>
                <a:spcPts val="0"/>
              </a:spcAft>
              <a:buSzPts val="1100"/>
              <a:buNone/>
            </a:pPr>
            <a:endParaRPr dirty="0">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b="1" dirty="0">
                <a:solidFill>
                  <a:schemeClr val="dk1"/>
                </a:solidFill>
              </a:rPr>
              <a:t>Speaker Note Instructions: </a:t>
            </a:r>
            <a:r>
              <a:rPr lang="en" sz="1100" b="0" i="0" u="none" strike="noStrike" cap="none" dirty="0">
                <a:solidFill>
                  <a:srgbClr val="000000"/>
                </a:solidFill>
                <a:latin typeface="Arial"/>
                <a:ea typeface="Arial"/>
                <a:cs typeface="Arial"/>
                <a:sym typeface="Aria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 </a:t>
            </a:r>
            <a:r>
              <a:rPr lang="en" b="0">
                <a:solidFill>
                  <a:schemeClr val="dk1"/>
                </a:solidFill>
              </a:rPr>
              <a:t>Using what you have learned about SWOT analysis, identify 4-6 strengths internally within the organization. You may have to make some inferences based on what you know or perceive about the organization.</a:t>
            </a:r>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 b="1">
                <a:solidFill>
                  <a:schemeClr val="dk1"/>
                </a:solidFill>
              </a:rPr>
              <a:t>Speaker Note Instructions: </a:t>
            </a:r>
            <a:r>
              <a:rPr lang="en" sz="1100" b="0" i="0" u="none" strike="noStrike" cap="none">
                <a:solidFill>
                  <a:srgbClr val="000000"/>
                </a:solidFill>
                <a:latin typeface="Arial"/>
                <a:ea typeface="Arial"/>
                <a:cs typeface="Arial"/>
                <a:sym typeface="Aria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f2329fe4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f2329fe4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Slide Instructions: </a:t>
            </a:r>
            <a:r>
              <a:rPr lang="en">
                <a:solidFill>
                  <a:schemeClr val="dk1"/>
                </a:solidFill>
              </a:rPr>
              <a:t>Using what you have learned about SWOT analysis, identify 4-6 weaknesses internally within the organization. You may have to make some inferences based on what you know or perceive about the organization.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Speaker Note Instructions: </a:t>
            </a:r>
            <a:r>
              <a:rPr lang="en">
                <a:solidFill>
                  <a:schemeClr val="dk1"/>
                </a:solidFil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a:t>
            </a:r>
            <a:r>
              <a:rPr lang="en">
                <a:solidFill>
                  <a:schemeClr val="dk1"/>
                </a:solidFill>
              </a:rPr>
              <a:t>: Using what you have learned about SWOT analysis, list 4-6 opportunities facing the organization externally. Opportunities and threats are generally easier to identify than internal strengths and weaknesses, and are typically shared across the same industry.</a:t>
            </a:r>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 b="1">
                <a:solidFill>
                  <a:schemeClr val="dk1"/>
                </a:solidFill>
              </a:rPr>
              <a:t>Speaker Note Instructions: </a:t>
            </a:r>
            <a:r>
              <a:rPr lang="en" sz="1100" b="0" i="0" u="none" strike="noStrike" cap="none">
                <a:solidFill>
                  <a:srgbClr val="000000"/>
                </a:solidFill>
                <a:latin typeface="Arial"/>
                <a:ea typeface="Arial"/>
                <a:cs typeface="Arial"/>
                <a:sym typeface="Aria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f2329fe40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2329fe40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Slide Instructions</a:t>
            </a:r>
            <a:r>
              <a:rPr lang="en">
                <a:solidFill>
                  <a:schemeClr val="dk1"/>
                </a:solidFill>
              </a:rPr>
              <a:t>: Using what you have learned about SWOT analysis, list 4-6 threats facing the organization externally. Opportunities and threats are generally easier to identify than internal strengths and weaknesses, and are typically shared across the same industry.</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Speaker Note Instructions: </a:t>
            </a:r>
            <a:r>
              <a:rPr lang="en">
                <a:solidFill>
                  <a:schemeClr val="dk1"/>
                </a:solidFill>
              </a:rPr>
              <a:t>This is where you can write down what you’d like to say about this slide if you were to give an oral presentation. Your speaker notes will be used to evaluate your project, so make sure you write in complete sentences and pay attention to spelling and grammar.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 </a:t>
            </a:r>
            <a:r>
              <a:rPr lang="en" b="0">
                <a:solidFill>
                  <a:schemeClr val="dk1"/>
                </a:solidFill>
              </a:rPr>
              <a:t>Applying the PESTEL framework to the organization, identify 1-3 factors for each of the following: Political Factors, Economic Factors, Sociocultural Factors, Technological Factors, Environmental Factors, Legal Factors.</a:t>
            </a:r>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 b="1">
                <a:solidFill>
                  <a:schemeClr val="dk1"/>
                </a:solidFill>
              </a:rPr>
              <a:t>Speaker Note Instructions: </a:t>
            </a:r>
            <a:r>
              <a:rPr lang="en" b="0">
                <a:solidFill>
                  <a:schemeClr val="dk1"/>
                </a:solidFill>
              </a:rPr>
              <a:t>This</a:t>
            </a:r>
            <a:r>
              <a:rPr lang="en" sz="1100" b="0" i="0" u="none" strike="noStrike" cap="none">
                <a:solidFill>
                  <a:srgbClr val="000000"/>
                </a:solidFill>
                <a:latin typeface="Arial"/>
                <a:ea typeface="Arial"/>
                <a:cs typeface="Arial"/>
                <a:sym typeface="Arial"/>
              </a:rPr>
              <a:t>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a:t>Slide Instructions: </a:t>
            </a:r>
            <a:r>
              <a:rPr lang="en" b="0"/>
              <a:t>Analyze the industry the organization competes in by applying what you have learned about Porter’s Five Forces of industry analysis. You should list 2-3 observations for each of the following factors: Threat of New Entrants, Threat of Substitutes, Supplier Power, Buyer Power, and Industry Rivalry.</a:t>
            </a:r>
            <a:endParaRPr b="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b="1">
                <a:solidFill>
                  <a:schemeClr val="dk1"/>
                </a:solidFill>
              </a:rPr>
              <a:t>Speaker Note Instructions: </a:t>
            </a:r>
            <a:r>
              <a:rPr lang="en">
                <a:solidFill>
                  <a:schemeClr val="dk1"/>
                </a:solidFill>
              </a:rPr>
              <a:t>Thi</a:t>
            </a:r>
            <a:r>
              <a:rPr lang="en" sz="1100" b="0" i="0" u="none" strike="noStrike" cap="none">
                <a:solidFill>
                  <a:srgbClr val="000000"/>
                </a:solidFill>
                <a:latin typeface="Arial"/>
                <a:ea typeface="Arial"/>
                <a:cs typeface="Arial"/>
                <a:sym typeface="Arial"/>
              </a:rPr>
              <a:t>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a:t>Slide Instructions: </a:t>
            </a:r>
            <a:r>
              <a:rPr lang="en" b="0"/>
              <a:t>Given what you have learned from your internal and external analysis of the organization, are they pursuing the right strategy? If so, why? If not, what might you recommend? Is the recommended (or current) strategy the right “fit” for the environment in which the organization competes? Be sure to select one of Porter’s three generic strategies: Cost Leadership, Differentiation, or Focus and provide your rationale.</a:t>
            </a:r>
            <a:endParaRPr b="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b="1">
                <a:solidFill>
                  <a:schemeClr val="dk1"/>
                </a:solidFill>
              </a:rPr>
              <a:t>Speaker Note Instructions: </a:t>
            </a:r>
            <a:r>
              <a:rPr lang="en">
                <a:solidFill>
                  <a:schemeClr val="dk1"/>
                </a:solidFill>
              </a:rPr>
              <a:t>Thi</a:t>
            </a:r>
            <a:r>
              <a:rPr lang="en" sz="1100" b="0" i="0" u="none" strike="noStrike" cap="none">
                <a:solidFill>
                  <a:srgbClr val="000000"/>
                </a:solidFill>
                <a:latin typeface="Arial"/>
                <a:ea typeface="Arial"/>
                <a:cs typeface="Arial"/>
                <a:sym typeface="Arial"/>
              </a:rPr>
              <a:t>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a:t>Slide Instructions: </a:t>
            </a:r>
            <a:r>
              <a:rPr lang="en" b="0"/>
              <a:t>Is the organization optimally designed (structured) for either your recommended or their current strategy? For example, if they are pursuing a Cost Leadership strategy do they have a low-cost operating model? The objective here is to determine and demonstrate the degree of “fit” between strategy and structure.</a:t>
            </a:r>
            <a:endParaRPr b="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b="1">
                <a:solidFill>
                  <a:schemeClr val="dk1"/>
                </a:solidFill>
              </a:rPr>
              <a:t>Speaker Note Instructions: </a:t>
            </a:r>
            <a:r>
              <a:rPr lang="en">
                <a:solidFill>
                  <a:schemeClr val="dk1"/>
                </a:solidFill>
              </a:rPr>
              <a:t>Thi</a:t>
            </a:r>
            <a:r>
              <a:rPr lang="en" sz="1100" b="0" i="0" u="none" strike="noStrike" cap="none">
                <a:solidFill>
                  <a:srgbClr val="000000"/>
                </a:solidFill>
                <a:latin typeface="Arial"/>
                <a:ea typeface="Arial"/>
                <a:cs typeface="Arial"/>
                <a:sym typeface="Arial"/>
              </a:rPr>
              <a:t>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a:t>Slide Instructions: </a:t>
            </a:r>
            <a:r>
              <a:rPr lang="en" b="0"/>
              <a:t>What are some of the ethical considerations for your recommended (or current) strategy? Is the organization positioned for long-term sustainability? Are there issues which may ultimately affect the organization’s ability to attract and retain talented employees or maintain the credibility of their brand? Are there potential ethical dilemmas in executing any recommended changes? The need to potentially lay-off thousands of workers or stop paying for benefits such as healthcare to lower operating expenses, for example?</a:t>
            </a:r>
            <a:endParaRPr b="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marR="0" lvl="0" indent="0" algn="l" rtl="0">
              <a:lnSpc>
                <a:spcPct val="100000"/>
              </a:lnSpc>
              <a:spcBef>
                <a:spcPts val="0"/>
              </a:spcBef>
              <a:spcAft>
                <a:spcPts val="0"/>
              </a:spcAft>
              <a:buClr>
                <a:srgbClr val="000000"/>
              </a:buClr>
              <a:buSzPts val="1100"/>
              <a:buFont typeface="Arial"/>
              <a:buNone/>
            </a:pPr>
            <a:r>
              <a:rPr lang="en" b="1">
                <a:solidFill>
                  <a:schemeClr val="dk1"/>
                </a:solidFill>
              </a:rPr>
              <a:t>Speaker Note Instructions: </a:t>
            </a:r>
            <a:r>
              <a:rPr lang="en">
                <a:solidFill>
                  <a:schemeClr val="dk1"/>
                </a:solidFill>
              </a:rPr>
              <a:t>Thi</a:t>
            </a:r>
            <a:r>
              <a:rPr lang="en" sz="1100" b="0" i="0" u="none" strike="noStrike" cap="none">
                <a:solidFill>
                  <a:srgbClr val="000000"/>
                </a:solidFill>
                <a:latin typeface="Arial"/>
                <a:ea typeface="Arial"/>
                <a:cs typeface="Arial"/>
                <a:sym typeface="Arial"/>
              </a:rPr>
              <a:t>s is where you can write down what you’d like to say about this slide if you were to give an oral presentation. Your speaker notes will be used to evaluate your project, so make sure you write in complete sentences and pay attention to spelling and grammar.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rPr>
              <a:t>Slide Instructions:  </a:t>
            </a:r>
            <a:r>
              <a:rPr lang="en">
                <a:solidFill>
                  <a:schemeClr val="dk1"/>
                </a:solidFill>
              </a:rPr>
              <a:t>This touchstone requires you to use at least four sources, including the course tutorials. Following </a:t>
            </a:r>
            <a:r>
              <a:rPr lang="en" sz="1100" b="0" i="0" u="none" strike="noStrike" cap="none">
                <a:solidFill>
                  <a:srgbClr val="000000"/>
                </a:solidFill>
                <a:latin typeface="Arial"/>
                <a:ea typeface="Arial"/>
                <a:cs typeface="Arial"/>
                <a:sym typeface="Arial"/>
              </a:rPr>
              <a:t>APA formatting, your sources should appear in alphabetical order.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n" b="1">
                <a:solidFill>
                  <a:schemeClr val="dk1"/>
                </a:solidFill>
              </a:rPr>
              <a:t>Speaker Note Instructions: </a:t>
            </a:r>
            <a:r>
              <a:rPr lang="en" b="0" i="1">
                <a:solidFill>
                  <a:schemeClr val="dk1"/>
                </a:solidFill>
              </a:rPr>
              <a:t>Speaker notes are not needed on this slide.</a:t>
            </a:r>
            <a:endParaRPr sz="1100" b="0" i="1"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6" name="Google Shape;16;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
              <a:t>Your Organization</a:t>
            </a:r>
            <a:endParaRPr/>
          </a:p>
        </p:txBody>
      </p:sp>
      <p:sp>
        <p:nvSpPr>
          <p:cNvPr id="55" name="Google Shape;55;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First and Last Name</a:t>
            </a:r>
            <a:endParaRPr/>
          </a:p>
          <a:p>
            <a:pPr marL="0" lvl="0" indent="0" algn="ctr" rtl="0">
              <a:lnSpc>
                <a:spcPct val="100000"/>
              </a:lnSpc>
              <a:spcBef>
                <a:spcPts val="0"/>
              </a:spcBef>
              <a:spcAft>
                <a:spcPts val="0"/>
              </a:spcAft>
              <a:buSzPts val="2800"/>
              <a:buNone/>
            </a:pPr>
            <a:r>
              <a:rPr lang="en"/>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Executive Summary</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2800"/>
              <a:buNone/>
            </a:pPr>
            <a:endParaRPr/>
          </a:p>
        </p:txBody>
      </p:sp>
      <p:sp>
        <p:nvSpPr>
          <p:cNvPr id="61" name="Google Shape;6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endParaRPr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Organization Background</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2800"/>
              <a:buNone/>
            </a:pPr>
            <a:endParaRPr/>
          </a:p>
        </p:txBody>
      </p:sp>
      <p:sp>
        <p:nvSpPr>
          <p:cNvPr id="67" name="Google Shape;67;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1600"/>
              </a:spcAft>
              <a:buSzPts val="1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Internal Strengths</a:t>
            </a:r>
            <a:endParaRPr/>
          </a:p>
        </p:txBody>
      </p:sp>
      <p:sp>
        <p:nvSpPr>
          <p:cNvPr id="73" name="Google Shape;73;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dk1"/>
              </a:buClr>
              <a:buSzPts val="1100"/>
              <a:buFont typeface="Arial"/>
              <a:buNone/>
            </a:pP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f2329fe408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800"/>
              <a:buFont typeface="Arial"/>
              <a:buNone/>
            </a:pPr>
            <a:r>
              <a:rPr lang="en"/>
              <a:t>Internal Weaknesses</a:t>
            </a:r>
            <a:endParaRPr/>
          </a:p>
          <a:p>
            <a:pPr marL="0" lvl="0" indent="0" algn="l" rtl="0">
              <a:spcBef>
                <a:spcPts val="0"/>
              </a:spcBef>
              <a:spcAft>
                <a:spcPts val="0"/>
              </a:spcAft>
              <a:buNone/>
            </a:pPr>
            <a:endParaRPr/>
          </a:p>
        </p:txBody>
      </p:sp>
      <p:sp>
        <p:nvSpPr>
          <p:cNvPr id="79" name="Google Shape;79;gf2329fe408_0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External Opportunities</a:t>
            </a:r>
            <a:endParaRPr/>
          </a:p>
        </p:txBody>
      </p:sp>
      <p:sp>
        <p:nvSpPr>
          <p:cNvPr id="85" name="Google Shape;85;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dk1"/>
              </a:buClr>
              <a:buSzPts val="1100"/>
              <a:buFont typeface="Arial"/>
              <a:buNone/>
            </a:pP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f2329fe408_0_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800"/>
              <a:buFont typeface="Arial"/>
              <a:buNone/>
            </a:pPr>
            <a:r>
              <a:rPr lang="en"/>
              <a:t>External Threats</a:t>
            </a:r>
            <a:endParaRPr/>
          </a:p>
          <a:p>
            <a:pPr marL="0" lvl="0" indent="0" algn="l" rtl="0">
              <a:spcBef>
                <a:spcPts val="0"/>
              </a:spcBef>
              <a:spcAft>
                <a:spcPts val="0"/>
              </a:spcAft>
              <a:buNone/>
            </a:pPr>
            <a:endParaRPr/>
          </a:p>
        </p:txBody>
      </p:sp>
      <p:sp>
        <p:nvSpPr>
          <p:cNvPr id="91" name="Google Shape;91;gf2329fe408_0_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Macro Environment Analysis: PESTEL</a:t>
            </a:r>
            <a:endParaRPr/>
          </a:p>
        </p:txBody>
      </p:sp>
      <p:sp>
        <p:nvSpPr>
          <p:cNvPr id="97" name="Google Shape;97;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dk1"/>
              </a:buClr>
              <a:buSzPts val="1100"/>
              <a:buFont typeface="Arial"/>
              <a:buNone/>
            </a:pP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Micro Industry Analysis: Porter’s Five Forces</a:t>
            </a:r>
            <a:endParaRPr/>
          </a:p>
        </p:txBody>
      </p:sp>
      <p:sp>
        <p:nvSpPr>
          <p:cNvPr id="103" name="Google Shape;103;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1600"/>
              </a:spcAft>
              <a:buSzPts val="18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Generic Strategy Recommendations</a:t>
            </a:r>
            <a:endParaRPr/>
          </a:p>
        </p:txBody>
      </p:sp>
      <p:sp>
        <p:nvSpPr>
          <p:cNvPr id="109" name="Google Shape;109;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1600"/>
              </a:spcAft>
              <a:buSzPts val="18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Organization Design Recommendations</a:t>
            </a:r>
            <a:endParaRPr/>
          </a:p>
        </p:txBody>
      </p:sp>
      <p:sp>
        <p:nvSpPr>
          <p:cNvPr id="115" name="Google Shape;115;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160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Ethical Considerations</a:t>
            </a:r>
            <a:endParaRPr/>
          </a:p>
        </p:txBody>
      </p:sp>
      <p:sp>
        <p:nvSpPr>
          <p:cNvPr id="121" name="Google Shape;121;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1600"/>
              </a:spcAft>
              <a:buSzPts val="1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References</a:t>
            </a:r>
            <a:endParaRPr/>
          </a:p>
        </p:txBody>
      </p:sp>
      <p:sp>
        <p:nvSpPr>
          <p:cNvPr id="127" name="Google Shape;127;p12"/>
          <p:cNvSpPr txBox="1">
            <a:spLocks noGrp="1"/>
          </p:cNvSpPr>
          <p:nvPr>
            <p:ph type="body" idx="1"/>
          </p:nvPr>
        </p:nvSpPr>
        <p:spPr>
          <a:xfrm>
            <a:off x="311700" y="1152474"/>
            <a:ext cx="8520600" cy="3803989"/>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FF0000"/>
              </a:buClr>
              <a:buSzPts val="1800"/>
              <a:buAutoNum type="arabicPeriod"/>
            </a:pPr>
            <a:r>
              <a:rPr lang="en" i="1">
                <a:solidFill>
                  <a:srgbClr val="FF0000"/>
                </a:solidFill>
              </a:rPr>
              <a:t>SHOULD BE UPDATED WITH THE EXAMPLES FROM JAY’S SAMPLE TOUCHSTONE</a:t>
            </a:r>
            <a:endParaRPr i="1">
              <a:solidFill>
                <a:srgbClr val="FF0000"/>
              </a:solidFill>
            </a:endParaRPr>
          </a:p>
          <a:p>
            <a:pPr marL="457200" lvl="0" indent="0" algn="l" rtl="0">
              <a:lnSpc>
                <a:spcPct val="115000"/>
              </a:lnSpc>
              <a:spcBef>
                <a:spcPts val="0"/>
              </a:spcBef>
              <a:spcAft>
                <a:spcPts val="0"/>
              </a:spcAft>
              <a:buSzPts val="1800"/>
              <a:buNone/>
            </a:pP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1332</Words>
  <Application>Microsoft Macintosh PowerPoint</Application>
  <PresentationFormat>On-screen Show (16:9)</PresentationFormat>
  <Paragraphs>53</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Simple Light</vt:lpstr>
      <vt:lpstr>Your Organization</vt:lpstr>
      <vt:lpstr>Executive Summary  </vt:lpstr>
      <vt:lpstr>Organization Background  </vt:lpstr>
      <vt:lpstr>Internal Strengths</vt:lpstr>
      <vt:lpstr>Internal Weaknesses </vt:lpstr>
      <vt:lpstr>External Opportunities</vt:lpstr>
      <vt:lpstr>External Threats </vt:lpstr>
      <vt:lpstr>Macro Environment Analysis: PESTEL</vt:lpstr>
      <vt:lpstr>Micro Industry Analysis: Porter’s Five Forces</vt:lpstr>
      <vt:lpstr>Generic Strategy Recommendations</vt:lpstr>
      <vt:lpstr>Organization Design Recommendations</vt:lpstr>
      <vt:lpstr>Ethical Considerations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Organization</dc:title>
  <dc:creator>Rod</dc:creator>
  <cp:lastModifiedBy>Bethany Uchytil</cp:lastModifiedBy>
  <cp:revision>2</cp:revision>
  <dcterms:modified xsi:type="dcterms:W3CDTF">2022-03-22T18:08:27Z</dcterms:modified>
</cp:coreProperties>
</file>
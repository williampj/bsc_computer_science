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4" r:id="rId1"/>
  </p:sldMasterIdLst>
  <p:notesMasterIdLst>
    <p:notesMasterId r:id="rId10"/>
  </p:notesMasterIdLst>
  <p:sldIdLst>
    <p:sldId id="257" r:id="rId2"/>
    <p:sldId id="258" r:id="rId3"/>
    <p:sldId id="259" r:id="rId4"/>
    <p:sldId id="263" r:id="rId5"/>
    <p:sldId id="260" r:id="rId6"/>
    <p:sldId id="262" r:id="rId7"/>
    <p:sldId id="264"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82853" autoAdjust="0"/>
  </p:normalViewPr>
  <p:slideViewPr>
    <p:cSldViewPr snapToGrid="0">
      <p:cViewPr varScale="1">
        <p:scale>
          <a:sx n="104" d="100"/>
          <a:sy n="104" d="100"/>
        </p:scale>
        <p:origin x="936" y="200"/>
      </p:cViewPr>
      <p:guideLst/>
    </p:cSldViewPr>
  </p:slideViewPr>
  <p:notesTextViewPr>
    <p:cViewPr>
      <p:scale>
        <a:sx n="1" d="1"/>
        <a:sy n="1" d="1"/>
      </p:scale>
      <p:origin x="0" y="0"/>
    </p:cViewPr>
  </p:notesTextViewPr>
  <p:notesViewPr>
    <p:cSldViewPr snapToGrid="0">
      <p:cViewPr>
        <p:scale>
          <a:sx n="100" d="100"/>
          <a:sy n="100" d="100"/>
        </p:scale>
        <p:origin x="1628" y="-9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47060-17B7-495C-9A34-3179164EBB30}" type="datetimeFigureOut">
              <a:rPr lang="en-US" smtClean="0"/>
              <a:t>11/1/23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0BDC1-0720-4530-9BCF-EDEFDA963796}" type="slidenum">
              <a:rPr lang="en-US" smtClean="0"/>
              <a:t>‹#›</a:t>
            </a:fld>
            <a:endParaRPr lang="en-US"/>
          </a:p>
        </p:txBody>
      </p:sp>
    </p:spTree>
    <p:extLst>
      <p:ext uri="{BB962C8B-B14F-4D97-AF65-F5344CB8AC3E}">
        <p14:creationId xmlns:p14="http://schemas.microsoft.com/office/powerpoint/2010/main" val="195638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1</a:t>
            </a:fld>
            <a:endParaRPr lang="en-US"/>
          </a:p>
        </p:txBody>
      </p:sp>
    </p:spTree>
    <p:extLst>
      <p:ext uri="{BB962C8B-B14F-4D97-AF65-F5344CB8AC3E}">
        <p14:creationId xmlns:p14="http://schemas.microsoft.com/office/powerpoint/2010/main" val="115389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2</a:t>
            </a:fld>
            <a:endParaRPr lang="en-US"/>
          </a:p>
        </p:txBody>
      </p:sp>
    </p:spTree>
    <p:extLst>
      <p:ext uri="{BB962C8B-B14F-4D97-AF65-F5344CB8AC3E}">
        <p14:creationId xmlns:p14="http://schemas.microsoft.com/office/powerpoint/2010/main" val="3186970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Superset:</a:t>
            </a:r>
          </a:p>
          <a:p>
            <a:r>
              <a:rPr lang="en-ID" sz="2000" dirty="0"/>
              <a:t>- TypeScript is a language that builds on JavaScript by adding types signatures to interfaces, functions and variables which can be used for type-checking</a:t>
            </a:r>
          </a:p>
          <a:p>
            <a:r>
              <a:rPr lang="en-US" sz="1400" dirty="0">
                <a:effectLst/>
                <a:latin typeface="Arial" panose="020B0604020202020204" pitchFamily="34" charset="0"/>
                <a:ea typeface="Calibri" panose="020F0502020204030204" pitchFamily="34" charset="0"/>
              </a:rPr>
              <a:t>- To quote the co-creator: “a type system is one way you can reason about your code. It's the ability to check your code before you run </a:t>
            </a:r>
            <a:r>
              <a:rPr lang="en-US" sz="2400" dirty="0">
                <a:latin typeface="Arial" panose="020B0604020202020204" pitchFamily="34" charset="0"/>
              </a:rPr>
              <a:t>and deploy it. Without types in a language that's almost impossible.” (Hejlsberg in Tung, 2020).</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800" dirty="0">
                <a:effectLst/>
                <a:latin typeface="Arial" panose="020B0604020202020204" pitchFamily="34" charset="0"/>
                <a:ea typeface="Calibri" panose="020F0502020204030204" pitchFamily="34" charset="0"/>
              </a:rPr>
              <a:t>How: </a:t>
            </a:r>
          </a:p>
          <a:p>
            <a:r>
              <a:rPr lang="en-US" sz="1800" dirty="0">
                <a:effectLst/>
                <a:latin typeface="Arial" panose="020B0604020202020204" pitchFamily="34" charset="0"/>
                <a:ea typeface="Calibri" panose="020F0502020204030204" pitchFamily="34" charset="0"/>
              </a:rPr>
              <a:t>When executing the build step from TypeScript to JavaScript, the TypeScript engine will examine if there is any possibility that a parameter or a variable is assigned an unexpected data type that contradicts its signature. If this is the case, the build process will record all type errors and print them as a descriptive error list for the developer to address before attempting another build. Only when all type errors have been corrected will the TypeScript file build step complete. It’s worth nothing that it renders a clean JavaScript file free from type notations or any other TypeScript feature (</a:t>
            </a:r>
            <a:r>
              <a:rPr lang="en-ID" sz="1800" dirty="0">
                <a:effectLst/>
                <a:latin typeface="Arial" panose="020B0604020202020204" pitchFamily="34" charset="0"/>
                <a:ea typeface="Calibri" panose="020F0502020204030204" pitchFamily="34" charset="0"/>
              </a:rPr>
              <a:t>Jansen et al., 2016</a:t>
            </a:r>
            <a:r>
              <a:rPr lang="en-US" sz="1800" dirty="0">
                <a:effectLst/>
                <a:latin typeface="Arial" panose="020B0604020202020204" pitchFamily="34" charset="0"/>
                <a:ea typeface="Calibri" panose="020F0502020204030204" pitchFamily="34" charset="0"/>
              </a:rPr>
              <a:t>)</a:t>
            </a:r>
            <a:r>
              <a:rPr lang="en-ID" sz="2000" dirty="0">
                <a:effectLst/>
              </a:rPr>
              <a:t> .</a:t>
            </a:r>
          </a:p>
          <a:p>
            <a:endParaRPr lang="en-ID" sz="2000" dirty="0">
              <a:effectLst/>
              <a:latin typeface="Arial" panose="020B0604020202020204" pitchFamily="34" charset="0"/>
              <a:cs typeface="Arial" panose="020B0604020202020204" pitchFamily="34" charset="0"/>
            </a:endParaRPr>
          </a:p>
          <a:p>
            <a:r>
              <a:rPr lang="en-ID" sz="2000" dirty="0">
                <a:effectLst/>
                <a:latin typeface="Arial" panose="020B0604020202020204" pitchFamily="34" charset="0"/>
                <a:cs typeface="Arial" panose="020B0604020202020204" pitchFamily="34" charset="0"/>
              </a:rPr>
              <a:t>Recent features:</a:t>
            </a:r>
          </a:p>
          <a:p>
            <a:r>
              <a:rPr lang="en-US" sz="1800" dirty="0">
                <a:effectLst/>
                <a:latin typeface="Arial" panose="020B0604020202020204" pitchFamily="34" charset="0"/>
                <a:ea typeface="Calibri" panose="020F0502020204030204" pitchFamily="34" charset="0"/>
              </a:rPr>
              <a:t>Of recent noteworthy additions worth mentioning, version 3.8 introduced private fields to aid with data security as well as type-checking to import and export statements (</a:t>
            </a:r>
            <a:r>
              <a:rPr lang="en-US" sz="1800" dirty="0" err="1">
                <a:solidFill>
                  <a:srgbClr val="000000"/>
                </a:solidFill>
                <a:effectLst/>
                <a:latin typeface="Arial" panose="020B0604020202020204" pitchFamily="34" charset="0"/>
                <a:ea typeface="Arial" panose="020B0604020202020204" pitchFamily="34" charset="0"/>
              </a:rPr>
              <a:t>Rosenwasser</a:t>
            </a:r>
            <a:r>
              <a:rPr lang="en-US" sz="1800" dirty="0">
                <a:solidFill>
                  <a:srgbClr val="000000"/>
                </a:solidFill>
                <a:effectLst/>
                <a:latin typeface="Arial" panose="020B0604020202020204" pitchFamily="34" charset="0"/>
                <a:ea typeface="Arial" panose="020B0604020202020204" pitchFamily="34" charset="0"/>
              </a:rPr>
              <a:t>, 2020</a:t>
            </a:r>
            <a:r>
              <a:rPr lang="en-US" sz="1800" dirty="0">
                <a:effectLst/>
                <a:latin typeface="Arial" panose="020B0604020202020204" pitchFamily="34" charset="0"/>
                <a:ea typeface="Calibri" panose="020F0502020204030204" pitchFamily="34" charset="0"/>
              </a:rPr>
              <a:t>), while the latest version 5.0 includes decorators to allow customization of classes and methods (</a:t>
            </a:r>
            <a:r>
              <a:rPr lang="en-US" sz="1800" dirty="0" err="1">
                <a:solidFill>
                  <a:srgbClr val="000000"/>
                </a:solidFill>
                <a:effectLst/>
                <a:latin typeface="Arial" panose="020B0604020202020204" pitchFamily="34" charset="0"/>
                <a:ea typeface="Arial" panose="020B0604020202020204" pitchFamily="34" charset="0"/>
              </a:rPr>
              <a:t>Rosenwasser</a:t>
            </a:r>
            <a:r>
              <a:rPr lang="en-US" sz="1800" dirty="0">
                <a:solidFill>
                  <a:srgbClr val="000000"/>
                </a:solidFill>
                <a:effectLst/>
                <a:latin typeface="Arial" panose="020B0604020202020204" pitchFamily="34" charset="0"/>
                <a:ea typeface="Arial" panose="020B0604020202020204" pitchFamily="34" charset="0"/>
              </a:rPr>
              <a:t>, 2023</a:t>
            </a:r>
            <a:r>
              <a:rPr lang="en-US" sz="1800" dirty="0">
                <a:effectLst/>
                <a:latin typeface="Arial" panose="020B0604020202020204" pitchFamily="34" charset="0"/>
                <a:ea typeface="Calibri" panose="020F0502020204030204" pitchFamily="34" charset="0"/>
              </a:rPr>
              <a:t>). </a:t>
            </a:r>
            <a:endParaRPr lang="en-US" sz="1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3</a:t>
            </a:fld>
            <a:endParaRPr lang="en-US"/>
          </a:p>
        </p:txBody>
      </p:sp>
    </p:spTree>
    <p:extLst>
      <p:ext uri="{BB962C8B-B14F-4D97-AF65-F5344CB8AC3E}">
        <p14:creationId xmlns:p14="http://schemas.microsoft.com/office/powerpoint/2010/main" val="2461540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illustrates the relationship between TypeScript and JavaScript. </a:t>
            </a:r>
          </a:p>
          <a:p>
            <a:r>
              <a:rPr lang="en-US" dirty="0"/>
              <a:t>ES6 added new features to JavaScript, and ES6 can be transpiled to older JavaScript code to ensure compatibility with older browsers. </a:t>
            </a:r>
          </a:p>
          <a:p>
            <a:r>
              <a:rPr lang="en-US" dirty="0"/>
              <a:t>Similarly, TypeScript takes all ES6 features and adds strong types, interfaces, </a:t>
            </a:r>
            <a:r>
              <a:rPr lang="en-US" dirty="0" err="1"/>
              <a:t>enums</a:t>
            </a:r>
            <a:r>
              <a:rPr lang="en-US" dirty="0"/>
              <a:t> and other features, which then converts to JavaScript for the browser to run (you can chose which JavaScript version to compile to, ES6 or an older version). TypeScript by itself cannot run in the browser. </a:t>
            </a:r>
          </a:p>
        </p:txBody>
      </p:sp>
      <p:sp>
        <p:nvSpPr>
          <p:cNvPr id="4" name="Slide Number Placeholder 3"/>
          <p:cNvSpPr>
            <a:spLocks noGrp="1"/>
          </p:cNvSpPr>
          <p:nvPr>
            <p:ph type="sldNum" sz="quarter" idx="5"/>
          </p:nvPr>
        </p:nvSpPr>
        <p:spPr/>
        <p:txBody>
          <a:bodyPr/>
          <a:lstStyle/>
          <a:p>
            <a:fld id="{0A60BDC1-0720-4530-9BCF-EDEFDA963796}" type="slidenum">
              <a:rPr lang="en-US" smtClean="0"/>
              <a:t>4</a:t>
            </a:fld>
            <a:endParaRPr lang="en-US"/>
          </a:p>
        </p:txBody>
      </p:sp>
    </p:spTree>
    <p:extLst>
      <p:ext uri="{BB962C8B-B14F-4D97-AF65-F5344CB8AC3E}">
        <p14:creationId xmlns:p14="http://schemas.microsoft.com/office/powerpoint/2010/main" val="1002975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This TypeScript file contains an interface called </a:t>
            </a:r>
            <a:r>
              <a:rPr lang="en-US" sz="1800" i="1" dirty="0" err="1">
                <a:effectLst/>
                <a:latin typeface="Arial" panose="020B0604020202020204" pitchFamily="34" charset="0"/>
                <a:ea typeface="Calibri" panose="020F0502020204030204" pitchFamily="34" charset="0"/>
                <a:cs typeface="Arial" panose="020B0604020202020204" pitchFamily="34" charset="0"/>
              </a:rPr>
              <a:t>DefineParams</a:t>
            </a:r>
            <a:r>
              <a:rPr lang="en-US" sz="1800" dirty="0">
                <a:effectLst/>
                <a:latin typeface="Arial" panose="020B0604020202020204" pitchFamily="34" charset="0"/>
                <a:ea typeface="Calibri" panose="020F0502020204030204" pitchFamily="34" charset="0"/>
                <a:cs typeface="Arial" panose="020B0604020202020204" pitchFamily="34" charset="0"/>
              </a:rPr>
              <a:t> that specifies its three properties and the types for each. This interface is then declared as the parameter for the </a:t>
            </a:r>
            <a:r>
              <a:rPr lang="en-US" sz="1800" i="1" dirty="0">
                <a:effectLst/>
                <a:latin typeface="Arial" panose="020B0604020202020204" pitchFamily="34" charset="0"/>
                <a:ea typeface="Calibri" panose="020F0502020204030204" pitchFamily="34" charset="0"/>
                <a:cs typeface="Arial" panose="020B0604020202020204" pitchFamily="34" charset="0"/>
              </a:rPr>
              <a:t>define </a:t>
            </a:r>
            <a:r>
              <a:rPr lang="en-US" sz="1800" dirty="0">
                <a:effectLst/>
                <a:latin typeface="Arial" panose="020B0604020202020204" pitchFamily="34" charset="0"/>
                <a:ea typeface="Calibri" panose="020F0502020204030204" pitchFamily="34" charset="0"/>
                <a:cs typeface="Arial" panose="020B0604020202020204" pitchFamily="34" charset="0"/>
              </a:rPr>
              <a:t>method, which may under no circumstance return a value due to the specified </a:t>
            </a:r>
            <a:r>
              <a:rPr lang="en-US" sz="1800" i="1" dirty="0">
                <a:effectLst/>
                <a:latin typeface="Arial" panose="020B0604020202020204" pitchFamily="34" charset="0"/>
                <a:ea typeface="Calibri" panose="020F0502020204030204" pitchFamily="34" charset="0"/>
                <a:cs typeface="Arial" panose="020B0604020202020204" pitchFamily="34" charset="0"/>
              </a:rPr>
              <a:t>void </a:t>
            </a:r>
            <a:r>
              <a:rPr lang="en-US" sz="1800" dirty="0">
                <a:effectLst/>
                <a:latin typeface="Arial" panose="020B0604020202020204" pitchFamily="34" charset="0"/>
                <a:ea typeface="Calibri" panose="020F0502020204030204" pitchFamily="34" charset="0"/>
                <a:cs typeface="Arial" panose="020B0604020202020204" pitchFamily="34" charset="0"/>
              </a:rPr>
              <a:t>return signature. If the </a:t>
            </a:r>
            <a:r>
              <a:rPr lang="en-US" sz="1800" i="1" dirty="0">
                <a:effectLst/>
                <a:latin typeface="Arial" panose="020B0604020202020204" pitchFamily="34" charset="0"/>
                <a:ea typeface="Calibri" panose="020F0502020204030204" pitchFamily="34" charset="0"/>
                <a:cs typeface="Arial" panose="020B0604020202020204" pitchFamily="34" charset="0"/>
              </a:rPr>
              <a:t>define </a:t>
            </a:r>
            <a:r>
              <a:rPr lang="en-US" sz="1800" dirty="0">
                <a:effectLst/>
                <a:latin typeface="Arial" panose="020B0604020202020204" pitchFamily="34" charset="0"/>
                <a:ea typeface="Calibri" panose="020F0502020204030204" pitchFamily="34" charset="0"/>
                <a:cs typeface="Arial" panose="020B0604020202020204" pitchFamily="34" charset="0"/>
              </a:rPr>
              <a:t>function receives an argument that does not implement the </a:t>
            </a:r>
            <a:r>
              <a:rPr lang="en-US" sz="1800" i="1" dirty="0" err="1">
                <a:effectLst/>
                <a:latin typeface="Arial" panose="020B0604020202020204" pitchFamily="34" charset="0"/>
                <a:ea typeface="Calibri" panose="020F0502020204030204" pitchFamily="34" charset="0"/>
                <a:cs typeface="Arial" panose="020B0604020202020204" pitchFamily="34" charset="0"/>
              </a:rPr>
              <a:t>DefineParams</a:t>
            </a:r>
            <a:r>
              <a:rPr lang="en-US" sz="1800" i="1" dirty="0">
                <a:effectLst/>
                <a:latin typeface="Arial" panose="020B0604020202020204" pitchFamily="34" charset="0"/>
                <a:ea typeface="Calibri" panose="020F0502020204030204" pitchFamily="34" charset="0"/>
                <a:cs typeface="Arial" panose="020B0604020202020204" pitchFamily="34" charset="0"/>
              </a:rPr>
              <a:t> </a:t>
            </a:r>
            <a:r>
              <a:rPr lang="en-US" sz="1800" dirty="0">
                <a:effectLst/>
                <a:latin typeface="Arial" panose="020B0604020202020204" pitchFamily="34" charset="0"/>
                <a:ea typeface="Calibri" panose="020F0502020204030204" pitchFamily="34" charset="0"/>
                <a:cs typeface="Arial" panose="020B0604020202020204" pitchFamily="34" charset="0"/>
              </a:rPr>
              <a:t>interface, it will raise an error in the build process.</a:t>
            </a:r>
          </a:p>
          <a:p>
            <a:pPr>
              <a:lnSpc>
                <a:spcPct val="115000"/>
              </a:lnSpc>
              <a:spcAft>
                <a:spcPts val="800"/>
              </a:spcAft>
            </a:pP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Aft>
                <a:spcPts val="800"/>
              </a:spcAft>
            </a:pPr>
            <a:r>
              <a:rPr lang="en-US" sz="1800" dirty="0">
                <a:effectLst/>
                <a:latin typeface="Arial" panose="020B0604020202020204" pitchFamily="34" charset="0"/>
                <a:ea typeface="Calibri" panose="020F0502020204030204" pitchFamily="34" charset="0"/>
              </a:rPr>
              <a:t>This JavaScript file version of the same function, on the other hand, merely names the three properties without specifying their types, which leaves the function vulnerable to bugs if it receives an argument with an incompatible type</a:t>
            </a:r>
            <a:r>
              <a:rPr lang="en-ID" sz="2800" dirty="0">
                <a:effectLst/>
              </a:rPr>
              <a:t> </a:t>
            </a:r>
            <a:endParaRPr lang="en-ID"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5</a:t>
            </a:fld>
            <a:endParaRPr lang="en-US"/>
          </a:p>
        </p:txBody>
      </p:sp>
    </p:spTree>
    <p:extLst>
      <p:ext uri="{BB962C8B-B14F-4D97-AF65-F5344CB8AC3E}">
        <p14:creationId xmlns:p14="http://schemas.microsoft.com/office/powerpoint/2010/main" val="60007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US" sz="1800" dirty="0">
                <a:effectLst/>
                <a:latin typeface="Arial" panose="020B0604020202020204" pitchFamily="34" charset="0"/>
                <a:ea typeface="Calibri" panose="020F0502020204030204" pitchFamily="34" charset="0"/>
              </a:rPr>
              <a:t>Until now, we’ve had to rely on the individual developer writing helpful comments above each function or statement to aid others as well as their future selves in extending or debugging that section of code. Such comments, however, have not followed a standard and have oftentimes been lacking in specificity, which has caused considerable time wasted in trying to grasp and run the code. </a:t>
            </a:r>
          </a:p>
          <a:p>
            <a:pPr>
              <a:lnSpc>
                <a:spcPct val="115000"/>
              </a:lnSpc>
              <a:spcAft>
                <a:spcPts val="800"/>
              </a:spcAft>
            </a:pP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dirty="0">
                <a:effectLst/>
                <a:latin typeface="Arial" panose="020B0604020202020204" pitchFamily="34" charset="0"/>
                <a:ea typeface="Calibri" panose="020F0502020204030204" pitchFamily="34" charset="0"/>
                <a:cs typeface="Arial" panose="020B0604020202020204" pitchFamily="34" charset="0"/>
              </a:rPr>
              <a:t>With TypeScript’s type annotations, we can enforce a standard signature that provides transparency in the inputs and outputs for all functions as illustrated in the TypeScript file example in the previous paragraph. As an added benefit, all interfaces, classes, functions, and variables can be automatically collected in a declaration file as part of the build step to provide a convenient overview, as you can see in this declaration file</a:t>
            </a:r>
          </a:p>
          <a:p>
            <a:pPr>
              <a:lnSpc>
                <a:spcPct val="115000"/>
              </a:lnSpc>
              <a:spcAft>
                <a:spcPts val="800"/>
              </a:spcAft>
            </a:pP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Between the signatures and the separate declaration file, TypeScript marks a significant improvement in readability and maintainability over plain JavaScript. </a:t>
            </a:r>
            <a:endParaRPr lang="en-ID"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6</a:t>
            </a:fld>
            <a:endParaRPr lang="en-US"/>
          </a:p>
        </p:txBody>
      </p:sp>
    </p:spTree>
    <p:extLst>
      <p:ext uri="{BB962C8B-B14F-4D97-AF65-F5344CB8AC3E}">
        <p14:creationId xmlns:p14="http://schemas.microsoft.com/office/powerpoint/2010/main" val="3920370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half believe that either TypeScript will become more popular or that JavaScript will turn into something like TypeScript. </a:t>
            </a:r>
          </a:p>
          <a:p>
            <a:r>
              <a:rPr lang="en-US" dirty="0"/>
              <a:t>Twice as many believe that TypeScript will be more popular as compared to JavaScript remaining the more popular choice.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rial" panose="020B0604020202020204" pitchFamily="34" charset="0"/>
                <a:ea typeface="Calibri" panose="020F0502020204030204" pitchFamily="34" charset="0"/>
                <a:cs typeface="Arial" panose="020B0604020202020204" pitchFamily="34" charset="0"/>
              </a:rPr>
              <a:t>This will improve the productivity of our engineers and aid our recruitment efforts by branding our company as one that utilized the latest, cutting-edge developer methodologies and tools. Let’s take that leap!</a:t>
            </a:r>
            <a:endParaRPr lang="en-ID"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A60BDC1-0720-4530-9BCF-EDEFDA963796}" type="slidenum">
              <a:rPr lang="en-US" smtClean="0"/>
              <a:t>7</a:t>
            </a:fld>
            <a:endParaRPr lang="en-US"/>
          </a:p>
        </p:txBody>
      </p:sp>
    </p:spTree>
    <p:extLst>
      <p:ext uri="{BB962C8B-B14F-4D97-AF65-F5344CB8AC3E}">
        <p14:creationId xmlns:p14="http://schemas.microsoft.com/office/powerpoint/2010/main" val="3143633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8</a:t>
            </a:fld>
            <a:endParaRPr lang="en-US"/>
          </a:p>
        </p:txBody>
      </p:sp>
    </p:spTree>
    <p:extLst>
      <p:ext uri="{BB962C8B-B14F-4D97-AF65-F5344CB8AC3E}">
        <p14:creationId xmlns:p14="http://schemas.microsoft.com/office/powerpoint/2010/main" val="1767649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11/1/23</a:t>
            </a:fld>
            <a:endParaRPr lang="en-US"/>
          </a:p>
        </p:txBody>
      </p:sp>
      <p:sp>
        <p:nvSpPr>
          <p:cNvPr id="5" name="Footer Placeholder 4"/>
          <p:cNvSpPr>
            <a:spLocks noGrp="1"/>
          </p:cNvSpPr>
          <p:nvPr>
            <p:ph type="ftr" sz="quarter" idx="11"/>
          </p:nvPr>
        </p:nvSpPr>
        <p:spPr>
          <a:xfrm>
            <a:off x="2493105" y="329307"/>
            <a:ext cx="4897310"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0C877745-A9BC-4103-9DB0-D203D258EB0F}" type="slidenum">
              <a:rPr lang="en-US" smtClean="0"/>
              <a:t>‹#›</a:t>
            </a:fld>
            <a:endParaRPr lang="en-US"/>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79088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061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7155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751D31-BB05-4A47-8168-26CFBBBCA28A}" type="datetimeFigureOut">
              <a:rPr lang="en-US" smtClean="0"/>
              <a:t>11/1/23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77745-A9BC-4103-9DB0-D203D258EB0F}" type="slidenum">
              <a:rPr lang="en-US" smtClean="0"/>
              <a:t>‹#›</a:t>
            </a:fld>
            <a:endParaRPr lang="en-US"/>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92574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751D31-BB05-4A47-8168-26CFBBBCA28A}" type="datetimeFigureOut">
              <a:rPr lang="en-US" smtClean="0"/>
              <a:t>11/1/23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877745-A9BC-4103-9DB0-D203D258EB0F}" type="slidenum">
              <a:rPr lang="en-US" smtClean="0"/>
              <a:t>‹#›</a:t>
            </a:fld>
            <a:endParaRPr lang="en-US"/>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801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751D31-BB05-4A47-8168-26CFBBBCA28A}" type="datetimeFigureOut">
              <a:rPr lang="en-US" smtClean="0"/>
              <a:t>11/1/23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877745-A9BC-4103-9DB0-D203D258EB0F}" type="slidenum">
              <a:rPr lang="en-US" smtClean="0"/>
              <a:t>‹#›</a:t>
            </a:fld>
            <a:endParaRPr lang="en-US"/>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7115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751D31-BB05-4A47-8168-26CFBBBCA28A}" type="datetimeFigureOut">
              <a:rPr lang="en-US" smtClean="0"/>
              <a:t>11/1/23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77430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751D31-BB05-4A47-8168-26CFBBBCA28A}" type="datetimeFigureOut">
              <a:rPr lang="en-US" smtClean="0"/>
              <a:t>11/1/23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77745-A9BC-4103-9DB0-D203D258EB0F}" type="slidenum">
              <a:rPr lang="en-US" smtClean="0"/>
              <a:t>‹#›</a:t>
            </a:fld>
            <a:endParaRPr lang="en-US"/>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9310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10751D31-BB05-4A47-8168-26CFBBBCA28A}" type="datetimeFigureOut">
              <a:rPr lang="en-US" smtClean="0"/>
              <a:t>11/1/23</a:t>
            </a:fld>
            <a:endParaRPr lang="en-US"/>
          </a:p>
        </p:txBody>
      </p:sp>
      <p:sp>
        <p:nvSpPr>
          <p:cNvPr id="6" name="Footer Placeholder 5"/>
          <p:cNvSpPr>
            <a:spLocks noGrp="1"/>
          </p:cNvSpPr>
          <p:nvPr>
            <p:ph type="ftr" sz="quarter" idx="11"/>
          </p:nvPr>
        </p:nvSpPr>
        <p:spPr>
          <a:xfrm>
            <a:off x="1534910" y="318640"/>
            <a:ext cx="5453475" cy="320931"/>
          </a:xfrm>
        </p:spPr>
        <p:txBody>
          <a:bodyPr/>
          <a:lstStyle/>
          <a:p>
            <a:endParaRPr lang="en-US"/>
          </a:p>
        </p:txBody>
      </p:sp>
      <p:sp>
        <p:nvSpPr>
          <p:cNvPr id="7" name="Slide Number Placeholder 6"/>
          <p:cNvSpPr>
            <a:spLocks noGrp="1"/>
          </p:cNvSpPr>
          <p:nvPr>
            <p:ph type="sldNum" sz="quarter" idx="12"/>
          </p:nvPr>
        </p:nvSpPr>
        <p:spPr/>
        <p:txBody>
          <a:bodyPr/>
          <a:lstStyle/>
          <a:p>
            <a:fld id="{0C877745-A9BC-4103-9DB0-D203D258EB0F}" type="slidenum">
              <a:rPr lang="en-US" smtClean="0"/>
              <a:t>‹#›</a:t>
            </a:fld>
            <a:endParaRPr lang="en-US"/>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634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68071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11/1/23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3848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0751D31-BB05-4A47-8168-26CFBBBCA28A}" type="datetimeFigureOut">
              <a:rPr lang="en-US" smtClean="0"/>
              <a:t>11/1/23</a:t>
            </a:fld>
            <a:endParaRPr lang="en-US"/>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C877745-A9BC-4103-9DB0-D203D258EB0F}" type="slidenum">
              <a:rPr lang="en-US" smtClean="0"/>
              <a:t>‹#›</a:t>
            </a:fld>
            <a:endParaRPr lang="en-US"/>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2106632"/>
      </p:ext>
    </p:extLst>
  </p:cSld>
  <p:clrMap bg1="lt1" tx1="dk1" bg2="lt2" tx2="dk2" accent1="accent1" accent2="accent2" accent3="accent3" accent4="accent4" accent5="accent5" accent6="accent6" hlink="hlink" folHlink="folHlink"/>
  <p:sldLayoutIdLst>
    <p:sldLayoutId id="2147484145" r:id="rId1"/>
    <p:sldLayoutId id="2147484146" r:id="rId2"/>
    <p:sldLayoutId id="2147484147" r:id="rId3"/>
    <p:sldLayoutId id="2147484148" r:id="rId4"/>
    <p:sldLayoutId id="2147484149" r:id="rId5"/>
    <p:sldLayoutId id="2147484150" r:id="rId6"/>
    <p:sldLayoutId id="2147484151" r:id="rId7"/>
    <p:sldLayoutId id="2147484152" r:id="rId8"/>
    <p:sldLayoutId id="2147484153" r:id="rId9"/>
    <p:sldLayoutId id="2147484154" r:id="rId10"/>
    <p:sldLayoutId id="2147484155"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tsh.io/blog/why-use-typescript/" TargetMode="External"/><Relationship Id="rId7" Type="http://schemas.openxmlformats.org/officeDocument/2006/relationships/hyperlink" Target="https://www.zdnet.com/article/typescript-creator-how-the-programming-language-beat-microsofts-open-source-fear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devblogs.microsoft.com/typescript/announcing-typescript-5-0/" TargetMode="External"/><Relationship Id="rId5" Type="http://schemas.openxmlformats.org/officeDocument/2006/relationships/hyperlink" Target="https://devblogs.microsoft.com/typescript/announcing-typescript-4-0/" TargetMode="External"/><Relationship Id="rId4" Type="http://schemas.openxmlformats.org/officeDocument/2006/relationships/hyperlink" Target="https://radixweb.com/blog/typescript-vs-javascri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D11A40-6903-8A9B-528B-4B2ED5404D57}"/>
              </a:ext>
            </a:extLst>
          </p:cNvPr>
          <p:cNvSpPr>
            <a:spLocks noGrp="1"/>
          </p:cNvSpPr>
          <p:nvPr>
            <p:ph type="ctrTitle"/>
          </p:nvPr>
        </p:nvSpPr>
        <p:spPr>
          <a:xfrm>
            <a:off x="1524000" y="1122363"/>
            <a:ext cx="9144000" cy="1914751"/>
          </a:xfrm>
        </p:spPr>
        <p:txBody>
          <a:bodyPr>
            <a:normAutofit/>
          </a:bodyPr>
          <a:lstStyle/>
          <a:p>
            <a:pPr algn="ctr">
              <a:lnSpc>
                <a:spcPct val="107000"/>
              </a:lnSpc>
              <a:spcAft>
                <a:spcPts val="800"/>
              </a:spcAft>
            </a:pPr>
            <a:r>
              <a:rPr lang="en-US" sz="3600" b="1" dirty="0">
                <a:effectLst/>
                <a:latin typeface="Arial" panose="020B0604020202020204" pitchFamily="34" charset="0"/>
                <a:ea typeface="Calibri" panose="020F0502020204030204" pitchFamily="34" charset="0"/>
                <a:cs typeface="Arial" panose="020B0604020202020204" pitchFamily="34" charset="0"/>
              </a:rPr>
              <a:t>Why we should include TypeScript in our development process</a:t>
            </a:r>
            <a:endParaRPr lang="en-ID" sz="3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Subtitle 4">
            <a:extLst>
              <a:ext uri="{FF2B5EF4-FFF2-40B4-BE49-F238E27FC236}">
                <a16:creationId xmlns:a16="http://schemas.microsoft.com/office/drawing/2014/main" id="{3FCF4303-2229-493E-C492-F2011374C8A2}"/>
              </a:ext>
            </a:extLst>
          </p:cNvPr>
          <p:cNvSpPr>
            <a:spLocks noGrp="1"/>
          </p:cNvSpPr>
          <p:nvPr>
            <p:ph type="subTitle" idx="1"/>
          </p:nvPr>
        </p:nvSpPr>
        <p:spPr/>
        <p:txBody>
          <a:bodyPr>
            <a:normAutofit fontScale="62500" lnSpcReduction="20000"/>
          </a:bodyPr>
          <a:lstStyle/>
          <a:p>
            <a:r>
              <a:rPr lang="en-US" dirty="0">
                <a:latin typeface="Arial" panose="020B0604020202020204" pitchFamily="34" charset="0"/>
                <a:cs typeface="Arial" panose="020B0604020202020204" pitchFamily="34" charset="0"/>
              </a:rPr>
              <a:t>William Jackson</a:t>
            </a:r>
          </a:p>
          <a:p>
            <a:r>
              <a:rPr lang="en-ID" dirty="0"/>
              <a:t>Student ID: 002982231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D339: Technical Communication (WGM2)</a:t>
            </a:r>
          </a:p>
        </p:txBody>
      </p:sp>
    </p:spTree>
    <p:extLst>
      <p:ext uri="{BB962C8B-B14F-4D97-AF65-F5344CB8AC3E}">
        <p14:creationId xmlns:p14="http://schemas.microsoft.com/office/powerpoint/2010/main" val="2623649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C090-953E-E9AE-DA87-43C11D7E6DD6}"/>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Agenda</a:t>
            </a:r>
          </a:p>
        </p:txBody>
      </p:sp>
      <p:sp>
        <p:nvSpPr>
          <p:cNvPr id="3" name="Content Placeholder 2">
            <a:extLst>
              <a:ext uri="{FF2B5EF4-FFF2-40B4-BE49-F238E27FC236}">
                <a16:creationId xmlns:a16="http://schemas.microsoft.com/office/drawing/2014/main" id="{98590B9A-02B7-4DA5-F35C-59D598179909}"/>
              </a:ext>
            </a:extLst>
          </p:cNvPr>
          <p:cNvSpPr>
            <a:spLocks noGrp="1"/>
          </p:cNvSpPr>
          <p:nvPr>
            <p:ph idx="1"/>
          </p:nvPr>
        </p:nvSpPr>
        <p:spPr/>
        <p:txBody>
          <a:bodyPr vert="horz" lIns="91440" tIns="45720" rIns="91440" bIns="45720" rtlCol="0" anchor="t">
            <a:normAutofit/>
          </a:bodyPr>
          <a:lstStyle/>
          <a:p>
            <a:pPr marL="514350" indent="-514350">
              <a:buFont typeface="+mj-lt"/>
              <a:buAutoNum type="arabicPeriod"/>
            </a:pPr>
            <a:r>
              <a:rPr lang="en-US" sz="3200" dirty="0">
                <a:latin typeface="Arial" panose="020B0604020202020204" pitchFamily="34" charset="0"/>
                <a:cs typeface="Arial" panose="020B0604020202020204" pitchFamily="34" charset="0"/>
              </a:rPr>
              <a:t>What is TypeScript</a:t>
            </a:r>
          </a:p>
          <a:p>
            <a:pPr marL="514350" indent="-514350">
              <a:buFont typeface="+mj-lt"/>
              <a:buAutoNum type="arabicPeriod"/>
            </a:pPr>
            <a:r>
              <a:rPr lang="en-US" sz="3200" dirty="0">
                <a:latin typeface="Arial" panose="020B0604020202020204" pitchFamily="34" charset="0"/>
                <a:cs typeface="Arial" panose="020B0604020202020204" pitchFamily="34" charset="0"/>
              </a:rPr>
              <a:t>The benefits to our company from adopting TypeScript</a:t>
            </a:r>
          </a:p>
        </p:txBody>
      </p:sp>
    </p:spTree>
    <p:extLst>
      <p:ext uri="{BB962C8B-B14F-4D97-AF65-F5344CB8AC3E}">
        <p14:creationId xmlns:p14="http://schemas.microsoft.com/office/powerpoint/2010/main" val="941574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01DF-7603-2126-1D45-FA1905FCCC8C}"/>
              </a:ext>
            </a:extLst>
          </p:cNvPr>
          <p:cNvSpPr>
            <a:spLocks noGrp="1"/>
          </p:cNvSpPr>
          <p:nvPr>
            <p:ph type="title"/>
          </p:nvPr>
        </p:nvSpPr>
        <p:spPr>
          <a:xfrm>
            <a:off x="696687" y="365125"/>
            <a:ext cx="10907484" cy="1325563"/>
          </a:xfrm>
        </p:spPr>
        <p:txBody>
          <a:bodyPr>
            <a:normAutofit/>
          </a:bodyPr>
          <a:lstStyle/>
          <a:p>
            <a:r>
              <a:rPr lang="en-US" b="1" dirty="0">
                <a:latin typeface="Arial" panose="020B0604020202020204" pitchFamily="34" charset="0"/>
                <a:cs typeface="Arial" panose="020B0604020202020204" pitchFamily="34" charset="0"/>
              </a:rPr>
              <a:t>What is TypeScript</a:t>
            </a:r>
          </a:p>
        </p:txBody>
      </p:sp>
      <p:sp>
        <p:nvSpPr>
          <p:cNvPr id="3" name="Content Placeholder 2">
            <a:extLst>
              <a:ext uri="{FF2B5EF4-FFF2-40B4-BE49-F238E27FC236}">
                <a16:creationId xmlns:a16="http://schemas.microsoft.com/office/drawing/2014/main" id="{1F03C42C-4167-82EB-72C0-CCEB8D6D63EF}"/>
              </a:ext>
            </a:extLst>
          </p:cNvPr>
          <p:cNvSpPr>
            <a:spLocks noGrp="1"/>
          </p:cNvSpPr>
          <p:nvPr>
            <p:ph idx="1"/>
          </p:nvPr>
        </p:nvSpPr>
        <p:spPr>
          <a:xfrm>
            <a:off x="1534696" y="2015732"/>
            <a:ext cx="9660526" cy="3450613"/>
          </a:xfrm>
        </p:spPr>
        <p:txBody>
          <a:bodyPr>
            <a:normAutofit fontScale="70000" lnSpcReduction="20000"/>
          </a:bodyPr>
          <a:lstStyle/>
          <a:p>
            <a:r>
              <a:rPr lang="en-US" sz="3200" dirty="0">
                <a:latin typeface="Arial" panose="020B0604020202020204" pitchFamily="34" charset="0"/>
                <a:cs typeface="Arial" panose="020B0604020202020204" pitchFamily="34" charset="0"/>
              </a:rPr>
              <a:t>Superset to JavaScript</a:t>
            </a:r>
          </a:p>
          <a:p>
            <a:pPr lvl="1"/>
            <a:r>
              <a:rPr lang="en-ID" dirty="0">
                <a:latin typeface="Arial" panose="020B0604020202020204" pitchFamily="34" charset="0"/>
              </a:rPr>
              <a:t> </a:t>
            </a:r>
            <a:r>
              <a:rPr lang="en-US" sz="1600" i="1" dirty="0">
                <a:effectLst/>
                <a:latin typeface="Arial" panose="020B0604020202020204" pitchFamily="34" charset="0"/>
                <a:ea typeface="Calibri" panose="020F0502020204030204" pitchFamily="34" charset="0"/>
              </a:rPr>
              <a:t>“a type system is one way you can reason about your code. It's the ability to check your code before you run </a:t>
            </a:r>
            <a:r>
              <a:rPr lang="en-US" sz="1600" i="1" dirty="0">
                <a:latin typeface="Arial" panose="020B0604020202020204" pitchFamily="34" charset="0"/>
              </a:rPr>
              <a:t>and deploy it. Without types in a language that's almost impossible.” (Hejlsberg in Tung, 2020).</a:t>
            </a:r>
          </a:p>
          <a:p>
            <a:r>
              <a:rPr lang="en-US" sz="3200" dirty="0">
                <a:latin typeface="Arial" panose="020B0604020202020204" pitchFamily="34" charset="0"/>
                <a:cs typeface="Arial" panose="020B0604020202020204" pitchFamily="34" charset="0"/>
              </a:rPr>
              <a:t>How it works</a:t>
            </a:r>
          </a:p>
          <a:p>
            <a:pPr lvl="1"/>
            <a:r>
              <a:rPr lang="en-US" sz="3000" dirty="0" err="1">
                <a:latin typeface="Arial" panose="020B0604020202020204" pitchFamily="34" charset="0"/>
                <a:cs typeface="Arial" panose="020B0604020202020204" pitchFamily="34" charset="0"/>
              </a:rPr>
              <a:t>Transpiles</a:t>
            </a:r>
            <a:r>
              <a:rPr lang="en-US" sz="3000" dirty="0">
                <a:latin typeface="Arial" panose="020B0604020202020204" pitchFamily="34" charset="0"/>
                <a:cs typeface="Arial" panose="020B0604020202020204" pitchFamily="34" charset="0"/>
              </a:rPr>
              <a:t> to JavaScript</a:t>
            </a:r>
          </a:p>
          <a:p>
            <a:pPr lvl="1"/>
            <a:r>
              <a:rPr lang="en-US" sz="3000" dirty="0">
                <a:latin typeface="Arial" panose="020B0604020202020204" pitchFamily="34" charset="0"/>
                <a:cs typeface="Arial" panose="020B0604020202020204" pitchFamily="34" charset="0"/>
              </a:rPr>
              <a:t>Erases all type signatures and other TypeScript features</a:t>
            </a:r>
          </a:p>
          <a:p>
            <a:r>
              <a:rPr lang="en-US" sz="3200" dirty="0">
                <a:latin typeface="Arial" panose="020B0604020202020204" pitchFamily="34" charset="0"/>
                <a:cs typeface="Arial" panose="020B0604020202020204" pitchFamily="34" charset="0"/>
              </a:rPr>
              <a:t>Recently added features</a:t>
            </a:r>
          </a:p>
          <a:p>
            <a:pPr lvl="1"/>
            <a:r>
              <a:rPr lang="en-US" sz="3000" dirty="0">
                <a:latin typeface="Arial" panose="020B0604020202020204" pitchFamily="34" charset="0"/>
                <a:cs typeface="Arial" panose="020B0604020202020204" pitchFamily="34" charset="0"/>
              </a:rPr>
              <a:t>Private fields, type-checks of import/export statements, decorators (</a:t>
            </a:r>
            <a:r>
              <a:rPr lang="en-US" sz="3000" dirty="0" err="1">
                <a:latin typeface="Arial" panose="020B0604020202020204" pitchFamily="34" charset="0"/>
                <a:cs typeface="Arial" panose="020B0604020202020204" pitchFamily="34" charset="0"/>
              </a:rPr>
              <a:t>Rosenwasser</a:t>
            </a:r>
            <a:r>
              <a:rPr lang="en-US" sz="3000" dirty="0">
                <a:latin typeface="Arial" panose="020B0604020202020204" pitchFamily="34" charset="0"/>
                <a:cs typeface="Arial" panose="020B0604020202020204" pitchFamily="34" charset="0"/>
              </a:rPr>
              <a:t>, 2020, 2023)</a:t>
            </a:r>
          </a:p>
          <a:p>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4086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EA9F-99A2-FEAA-8371-2F796B5B89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EB8E0F-12A0-71D6-E350-89E85577D2E3}"/>
              </a:ext>
            </a:extLst>
          </p:cNvPr>
          <p:cNvSpPr>
            <a:spLocks noGrp="1"/>
          </p:cNvSpPr>
          <p:nvPr>
            <p:ph idx="1"/>
          </p:nvPr>
        </p:nvSpPr>
        <p:spPr/>
        <p:txBody>
          <a:bodyPr/>
          <a:lstStyle/>
          <a:p>
            <a:endParaRPr lang="en-US"/>
          </a:p>
        </p:txBody>
      </p:sp>
      <p:pic>
        <p:nvPicPr>
          <p:cNvPr id="4" name="Picture 2" descr="Understand Typescript">
            <a:extLst>
              <a:ext uri="{FF2B5EF4-FFF2-40B4-BE49-F238E27FC236}">
                <a16:creationId xmlns:a16="http://schemas.microsoft.com/office/drawing/2014/main" id="{5B6BFC91-C4EC-369F-AA27-40B31420E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400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9811EDE-9A16-C98A-7FEF-6D0110C14EBA}"/>
              </a:ext>
            </a:extLst>
          </p:cNvPr>
          <p:cNvSpPr txBox="1"/>
          <p:nvPr/>
        </p:nvSpPr>
        <p:spPr>
          <a:xfrm>
            <a:off x="308919" y="6499654"/>
            <a:ext cx="6858000" cy="369332"/>
          </a:xfrm>
          <a:prstGeom prst="rect">
            <a:avLst/>
          </a:prstGeom>
          <a:noFill/>
        </p:spPr>
        <p:txBody>
          <a:bodyPr wrap="square" rtlCol="0">
            <a:spAutoFit/>
          </a:bodyPr>
          <a:lstStyle/>
          <a:p>
            <a:r>
              <a:rPr lang="en-US" dirty="0"/>
              <a:t>Image Credit (</a:t>
            </a:r>
            <a:r>
              <a:rPr lang="en-US" dirty="0" err="1"/>
              <a:t>Raval</a:t>
            </a:r>
            <a:r>
              <a:rPr lang="en-US" dirty="0"/>
              <a:t>, 2023)</a:t>
            </a:r>
          </a:p>
        </p:txBody>
      </p:sp>
    </p:spTree>
    <p:extLst>
      <p:ext uri="{BB962C8B-B14F-4D97-AF65-F5344CB8AC3E}">
        <p14:creationId xmlns:p14="http://schemas.microsoft.com/office/powerpoint/2010/main" val="2859689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6923-6E0D-8318-FBE4-CAF1F520FAFE}"/>
              </a:ext>
            </a:extLst>
          </p:cNvPr>
          <p:cNvSpPr>
            <a:spLocks noGrp="1"/>
          </p:cNvSpPr>
          <p:nvPr>
            <p:ph type="title"/>
          </p:nvPr>
        </p:nvSpPr>
        <p:spPr/>
        <p:txBody>
          <a:bodyPr>
            <a:normAutofit/>
          </a:bodyPr>
          <a:lstStyle/>
          <a:p>
            <a:pPr algn="ctr"/>
            <a:r>
              <a:rPr lang="en-US" sz="3200" b="1" dirty="0">
                <a:latin typeface="Arial" panose="020B0604020202020204" pitchFamily="34" charset="0"/>
                <a:cs typeface="Arial" panose="020B0604020202020204" pitchFamily="34" charset="0"/>
              </a:rPr>
              <a:t>The benefits to our company from adopting TypeScript</a:t>
            </a:r>
          </a:p>
        </p:txBody>
      </p:sp>
      <p:sp>
        <p:nvSpPr>
          <p:cNvPr id="3" name="Content Placeholder 2">
            <a:extLst>
              <a:ext uri="{FF2B5EF4-FFF2-40B4-BE49-F238E27FC236}">
                <a16:creationId xmlns:a16="http://schemas.microsoft.com/office/drawing/2014/main" id="{FDB9B699-27AD-1B15-94E6-C310248FA7CB}"/>
              </a:ext>
            </a:extLst>
          </p:cNvPr>
          <p:cNvSpPr>
            <a:spLocks noGrp="1"/>
          </p:cNvSpPr>
          <p:nvPr>
            <p:ph idx="1"/>
          </p:nvPr>
        </p:nvSpPr>
        <p:spPr>
          <a:xfrm>
            <a:off x="838200" y="2057846"/>
            <a:ext cx="10515600" cy="4141335"/>
          </a:xfrm>
        </p:spPr>
        <p:txBody>
          <a:bodyPr>
            <a:normAutofit/>
          </a:bodyPr>
          <a:lstStyle/>
          <a:p>
            <a:r>
              <a:rPr lang="en-US" sz="2300" dirty="0">
                <a:latin typeface="Arial" panose="020B0604020202020204" pitchFamily="34" charset="0"/>
                <a:ea typeface="Calibri" panose="020F0502020204030204" pitchFamily="34" charset="0"/>
              </a:rPr>
              <a:t>T</a:t>
            </a:r>
            <a:r>
              <a:rPr lang="en-US" sz="2300" dirty="0">
                <a:effectLst/>
                <a:latin typeface="Arial" panose="020B0604020202020204" pitchFamily="34" charset="0"/>
                <a:ea typeface="Calibri" panose="020F0502020204030204" pitchFamily="34" charset="0"/>
              </a:rPr>
              <a:t>ype-checking</a:t>
            </a:r>
          </a:p>
          <a:p>
            <a:pPr lvl="1"/>
            <a:r>
              <a:rPr lang="en-US" sz="2300" dirty="0">
                <a:effectLst/>
                <a:latin typeface="Arial" panose="020B0604020202020204" pitchFamily="34" charset="0"/>
                <a:ea typeface="Calibri" panose="020F0502020204030204" pitchFamily="34" charset="0"/>
              </a:rPr>
              <a:t>Reduces the number of type errors in our code to near zero</a:t>
            </a:r>
          </a:p>
        </p:txBody>
      </p:sp>
      <p:pic>
        <p:nvPicPr>
          <p:cNvPr id="6" name="Picture 5">
            <a:extLst>
              <a:ext uri="{FF2B5EF4-FFF2-40B4-BE49-F238E27FC236}">
                <a16:creationId xmlns:a16="http://schemas.microsoft.com/office/drawing/2014/main" id="{2A90CBF1-152E-EC63-0095-1B203ECA9662}"/>
              </a:ext>
            </a:extLst>
          </p:cNvPr>
          <p:cNvPicPr>
            <a:picLocks noChangeAspect="1"/>
          </p:cNvPicPr>
          <p:nvPr/>
        </p:nvPicPr>
        <p:blipFill>
          <a:blip r:embed="rId3"/>
          <a:stretch>
            <a:fillRect/>
          </a:stretch>
        </p:blipFill>
        <p:spPr>
          <a:xfrm>
            <a:off x="131298" y="3704336"/>
            <a:ext cx="5964702" cy="2349145"/>
          </a:xfrm>
          <a:prstGeom prst="rect">
            <a:avLst/>
          </a:prstGeom>
        </p:spPr>
      </p:pic>
      <p:pic>
        <p:nvPicPr>
          <p:cNvPr id="8" name="Picture 7">
            <a:extLst>
              <a:ext uri="{FF2B5EF4-FFF2-40B4-BE49-F238E27FC236}">
                <a16:creationId xmlns:a16="http://schemas.microsoft.com/office/drawing/2014/main" id="{1F63A0FA-360D-093A-6E90-64C58C2B1710}"/>
              </a:ext>
            </a:extLst>
          </p:cNvPr>
          <p:cNvPicPr>
            <a:picLocks noChangeAspect="1"/>
          </p:cNvPicPr>
          <p:nvPr/>
        </p:nvPicPr>
        <p:blipFill>
          <a:blip r:embed="rId4"/>
          <a:stretch>
            <a:fillRect/>
          </a:stretch>
        </p:blipFill>
        <p:spPr>
          <a:xfrm>
            <a:off x="6260123" y="3701755"/>
            <a:ext cx="5800579" cy="2349145"/>
          </a:xfrm>
          <a:prstGeom prst="rect">
            <a:avLst/>
          </a:prstGeom>
        </p:spPr>
      </p:pic>
      <p:sp>
        <p:nvSpPr>
          <p:cNvPr id="9" name="TextBox 8">
            <a:extLst>
              <a:ext uri="{FF2B5EF4-FFF2-40B4-BE49-F238E27FC236}">
                <a16:creationId xmlns:a16="http://schemas.microsoft.com/office/drawing/2014/main" id="{2346EBF1-1991-2973-340F-A8E329BF4D51}"/>
              </a:ext>
            </a:extLst>
          </p:cNvPr>
          <p:cNvSpPr txBox="1"/>
          <p:nvPr/>
        </p:nvSpPr>
        <p:spPr>
          <a:xfrm>
            <a:off x="6260122" y="3304518"/>
            <a:ext cx="3501715" cy="369332"/>
          </a:xfrm>
          <a:prstGeom prst="rect">
            <a:avLst/>
          </a:prstGeom>
          <a:noFill/>
        </p:spPr>
        <p:txBody>
          <a:bodyPr wrap="square" rtlCol="0">
            <a:spAutoFit/>
          </a:bodyPr>
          <a:lstStyle/>
          <a:p>
            <a:r>
              <a:rPr lang="en-US" dirty="0"/>
              <a:t>JavaScript (my own example)</a:t>
            </a:r>
          </a:p>
        </p:txBody>
      </p:sp>
      <p:sp>
        <p:nvSpPr>
          <p:cNvPr id="10" name="TextBox 9">
            <a:extLst>
              <a:ext uri="{FF2B5EF4-FFF2-40B4-BE49-F238E27FC236}">
                <a16:creationId xmlns:a16="http://schemas.microsoft.com/office/drawing/2014/main" id="{2F7C2D36-0D5B-9E12-A41D-179B1DBB7F11}"/>
              </a:ext>
            </a:extLst>
          </p:cNvPr>
          <p:cNvSpPr txBox="1"/>
          <p:nvPr/>
        </p:nvSpPr>
        <p:spPr>
          <a:xfrm>
            <a:off x="127925" y="3335004"/>
            <a:ext cx="3356680" cy="369332"/>
          </a:xfrm>
          <a:prstGeom prst="rect">
            <a:avLst/>
          </a:prstGeom>
          <a:noFill/>
        </p:spPr>
        <p:txBody>
          <a:bodyPr wrap="square" rtlCol="0">
            <a:spAutoFit/>
          </a:bodyPr>
          <a:lstStyle/>
          <a:p>
            <a:r>
              <a:rPr lang="en-US" dirty="0"/>
              <a:t>TypeScript (my own example)</a:t>
            </a:r>
          </a:p>
        </p:txBody>
      </p:sp>
    </p:spTree>
    <p:extLst>
      <p:ext uri="{BB962C8B-B14F-4D97-AF65-F5344CB8AC3E}">
        <p14:creationId xmlns:p14="http://schemas.microsoft.com/office/powerpoint/2010/main" val="666771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6923-6E0D-8318-FBE4-CAF1F520FAFE}"/>
              </a:ext>
            </a:extLst>
          </p:cNvPr>
          <p:cNvSpPr>
            <a:spLocks noGrp="1"/>
          </p:cNvSpPr>
          <p:nvPr>
            <p:ph type="title"/>
          </p:nvPr>
        </p:nvSpPr>
        <p:spPr/>
        <p:txBody>
          <a:bodyPr>
            <a:normAutofit/>
          </a:bodyPr>
          <a:lstStyle/>
          <a:p>
            <a:pPr algn="ctr"/>
            <a:r>
              <a:rPr lang="en-US" sz="3200" b="1" dirty="0">
                <a:latin typeface="Arial" panose="020B0604020202020204" pitchFamily="34" charset="0"/>
                <a:cs typeface="Arial" panose="020B0604020202020204" pitchFamily="34" charset="0"/>
              </a:rPr>
              <a:t>The benefits to our company from adopting TypeScript</a:t>
            </a:r>
          </a:p>
        </p:txBody>
      </p:sp>
      <p:sp>
        <p:nvSpPr>
          <p:cNvPr id="3" name="Content Placeholder 2">
            <a:extLst>
              <a:ext uri="{FF2B5EF4-FFF2-40B4-BE49-F238E27FC236}">
                <a16:creationId xmlns:a16="http://schemas.microsoft.com/office/drawing/2014/main" id="{FDB9B699-27AD-1B15-94E6-C310248FA7CB}"/>
              </a:ext>
            </a:extLst>
          </p:cNvPr>
          <p:cNvSpPr>
            <a:spLocks noGrp="1"/>
          </p:cNvSpPr>
          <p:nvPr>
            <p:ph idx="1"/>
          </p:nvPr>
        </p:nvSpPr>
        <p:spPr>
          <a:xfrm>
            <a:off x="838200" y="1912146"/>
            <a:ext cx="10515600" cy="4141335"/>
          </a:xfrm>
        </p:spPr>
        <p:txBody>
          <a:bodyPr>
            <a:normAutofit/>
          </a:bodyPr>
          <a:lstStyle/>
          <a:p>
            <a:r>
              <a:rPr lang="en-US" sz="2300" dirty="0">
                <a:effectLst/>
                <a:latin typeface="Arial" panose="020B0604020202020204" pitchFamily="34" charset="0"/>
                <a:ea typeface="Calibri" panose="020F0502020204030204" pitchFamily="34" charset="0"/>
              </a:rPr>
              <a:t>Easier to understand and maintain code</a:t>
            </a:r>
          </a:p>
          <a:p>
            <a:pPr lvl="1"/>
            <a:r>
              <a:rPr lang="en-US" sz="2000" dirty="0">
                <a:latin typeface="Arial" panose="020B0604020202020204" pitchFamily="34" charset="0"/>
              </a:rPr>
              <a:t>Forces developers to explicitly state use cases</a:t>
            </a:r>
          </a:p>
          <a:p>
            <a:pPr lvl="1"/>
            <a:r>
              <a:rPr lang="en-US" sz="2000" dirty="0">
                <a:latin typeface="Arial" panose="020B0604020202020204" pitchFamily="34" charset="0"/>
              </a:rPr>
              <a:t>Signatures and Declaration files</a:t>
            </a:r>
          </a:p>
        </p:txBody>
      </p:sp>
      <p:pic>
        <p:nvPicPr>
          <p:cNvPr id="7" name="Picture 6">
            <a:extLst>
              <a:ext uri="{FF2B5EF4-FFF2-40B4-BE49-F238E27FC236}">
                <a16:creationId xmlns:a16="http://schemas.microsoft.com/office/drawing/2014/main" id="{732C042E-26E6-B4FD-E3CD-6E708771BE18}"/>
              </a:ext>
            </a:extLst>
          </p:cNvPr>
          <p:cNvPicPr>
            <a:picLocks noChangeAspect="1"/>
          </p:cNvPicPr>
          <p:nvPr/>
        </p:nvPicPr>
        <p:blipFill>
          <a:blip r:embed="rId3"/>
          <a:stretch>
            <a:fillRect/>
          </a:stretch>
        </p:blipFill>
        <p:spPr>
          <a:xfrm>
            <a:off x="838200" y="3429000"/>
            <a:ext cx="6136864" cy="3355890"/>
          </a:xfrm>
          <a:prstGeom prst="rect">
            <a:avLst/>
          </a:prstGeom>
        </p:spPr>
      </p:pic>
      <p:sp>
        <p:nvSpPr>
          <p:cNvPr id="8" name="TextBox 7">
            <a:extLst>
              <a:ext uri="{FF2B5EF4-FFF2-40B4-BE49-F238E27FC236}">
                <a16:creationId xmlns:a16="http://schemas.microsoft.com/office/drawing/2014/main" id="{25B66C48-6029-9D93-6D7D-C62ED5EA27FC}"/>
              </a:ext>
            </a:extLst>
          </p:cNvPr>
          <p:cNvSpPr txBox="1"/>
          <p:nvPr/>
        </p:nvSpPr>
        <p:spPr>
          <a:xfrm>
            <a:off x="6975064" y="3429000"/>
            <a:ext cx="3762958" cy="369332"/>
          </a:xfrm>
          <a:prstGeom prst="rect">
            <a:avLst/>
          </a:prstGeom>
          <a:noFill/>
        </p:spPr>
        <p:txBody>
          <a:bodyPr wrap="square" rtlCol="0">
            <a:spAutoFit/>
          </a:bodyPr>
          <a:lstStyle/>
          <a:p>
            <a:r>
              <a:rPr lang="en-US" dirty="0"/>
              <a:t>Declaration file (my own example)</a:t>
            </a:r>
          </a:p>
        </p:txBody>
      </p:sp>
    </p:spTree>
    <p:extLst>
      <p:ext uri="{BB962C8B-B14F-4D97-AF65-F5344CB8AC3E}">
        <p14:creationId xmlns:p14="http://schemas.microsoft.com/office/powerpoint/2010/main" val="186667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03CC-A244-78ED-7D6C-D534829CB840}"/>
              </a:ext>
            </a:extLst>
          </p:cNvPr>
          <p:cNvSpPr>
            <a:spLocks noGrp="1"/>
          </p:cNvSpPr>
          <p:nvPr>
            <p:ph type="title"/>
          </p:nvPr>
        </p:nvSpPr>
        <p:spPr>
          <a:xfrm>
            <a:off x="1534696" y="643881"/>
            <a:ext cx="9520158" cy="1049235"/>
          </a:xfrm>
        </p:spPr>
        <p:txBody>
          <a:bodyPr/>
          <a:lstStyle/>
          <a:p>
            <a:r>
              <a:rPr lang="en-US" dirty="0"/>
              <a:t>Bonus benefit: Future proofing the company</a:t>
            </a:r>
          </a:p>
        </p:txBody>
      </p:sp>
      <p:pic>
        <p:nvPicPr>
          <p:cNvPr id="4" name="Picture 3">
            <a:extLst>
              <a:ext uri="{FF2B5EF4-FFF2-40B4-BE49-F238E27FC236}">
                <a16:creationId xmlns:a16="http://schemas.microsoft.com/office/drawing/2014/main" id="{72EC1B47-EAA7-035D-F688-A818637BC3E1}"/>
              </a:ext>
            </a:extLst>
          </p:cNvPr>
          <p:cNvPicPr>
            <a:picLocks noChangeAspect="1"/>
          </p:cNvPicPr>
          <p:nvPr/>
        </p:nvPicPr>
        <p:blipFill>
          <a:blip r:embed="rId3"/>
          <a:stretch>
            <a:fillRect/>
          </a:stretch>
        </p:blipFill>
        <p:spPr>
          <a:xfrm>
            <a:off x="1534696" y="1853754"/>
            <a:ext cx="6654800" cy="4787900"/>
          </a:xfrm>
          <a:prstGeom prst="rect">
            <a:avLst/>
          </a:prstGeom>
        </p:spPr>
      </p:pic>
      <p:sp>
        <p:nvSpPr>
          <p:cNvPr id="5" name="TextBox 4">
            <a:extLst>
              <a:ext uri="{FF2B5EF4-FFF2-40B4-BE49-F238E27FC236}">
                <a16:creationId xmlns:a16="http://schemas.microsoft.com/office/drawing/2014/main" id="{07EC5B7D-D393-1386-A40D-63B7112932FD}"/>
              </a:ext>
            </a:extLst>
          </p:cNvPr>
          <p:cNvSpPr txBox="1"/>
          <p:nvPr/>
        </p:nvSpPr>
        <p:spPr>
          <a:xfrm>
            <a:off x="8304714" y="6272322"/>
            <a:ext cx="3063501" cy="369332"/>
          </a:xfrm>
          <a:prstGeom prst="rect">
            <a:avLst/>
          </a:prstGeom>
          <a:noFill/>
        </p:spPr>
        <p:txBody>
          <a:bodyPr wrap="square" rtlCol="0">
            <a:spAutoFit/>
          </a:bodyPr>
          <a:lstStyle/>
          <a:p>
            <a:r>
              <a:rPr lang="en-US" dirty="0"/>
              <a:t>Image credit (Kubiak, 2023) </a:t>
            </a:r>
          </a:p>
        </p:txBody>
      </p:sp>
    </p:spTree>
    <p:extLst>
      <p:ext uri="{BB962C8B-B14F-4D97-AF65-F5344CB8AC3E}">
        <p14:creationId xmlns:p14="http://schemas.microsoft.com/office/powerpoint/2010/main" val="2652172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77F7B-FA20-261E-5CF7-36164C5CC971}"/>
              </a:ext>
            </a:extLst>
          </p:cNvPr>
          <p:cNvSpPr>
            <a:spLocks noGrp="1"/>
          </p:cNvSpPr>
          <p:nvPr>
            <p:ph type="title"/>
          </p:nvPr>
        </p:nvSpPr>
        <p:spPr>
          <a:xfrm>
            <a:off x="1522339" y="619168"/>
            <a:ext cx="9520158" cy="1049235"/>
          </a:xfrm>
        </p:spPr>
        <p:txBody>
          <a:bodyPr/>
          <a:lstStyle/>
          <a:p>
            <a:r>
              <a:rPr lang="en-US" b="1"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2AC40100-FBD2-6B0E-B5FB-4B3E8D827146}"/>
              </a:ext>
            </a:extLst>
          </p:cNvPr>
          <p:cNvSpPr>
            <a:spLocks noGrp="1"/>
          </p:cNvSpPr>
          <p:nvPr>
            <p:ph idx="1"/>
          </p:nvPr>
        </p:nvSpPr>
        <p:spPr>
          <a:xfrm>
            <a:off x="838200" y="1989679"/>
            <a:ext cx="10515600" cy="5025797"/>
          </a:xfrm>
        </p:spPr>
        <p:txBody>
          <a:bodyPr>
            <a:normAutofit/>
          </a:bodyPr>
          <a:lstStyle/>
          <a:p>
            <a:pPr>
              <a:lnSpc>
                <a:spcPct val="115000"/>
              </a:lnSpc>
            </a:pPr>
            <a:r>
              <a:rPr lang="en-ID" sz="1800" dirty="0">
                <a:latin typeface="Arial" panose="020B0604020202020204" pitchFamily="34" charset="0"/>
                <a:cs typeface="Arial" panose="020B0604020202020204" pitchFamily="34" charset="0"/>
              </a:rPr>
              <a:t>Kubiak, G. (2023). </a:t>
            </a:r>
            <a:r>
              <a:rPr lang="en-ID" sz="1800" i="1" dirty="0">
                <a:latin typeface="Arial" panose="020B0604020202020204" pitchFamily="34" charset="0"/>
                <a:cs typeface="Arial" panose="020B0604020202020204" pitchFamily="34" charset="0"/>
              </a:rPr>
              <a:t>Why use TypeScript? Could it be the best way to write frontend in 2023?. </a:t>
            </a:r>
            <a:r>
              <a:rPr lang="en-ID" sz="1800" dirty="0">
                <a:latin typeface="Arial" panose="020B0604020202020204" pitchFamily="34" charset="0"/>
                <a:cs typeface="Arial" panose="020B0604020202020204" pitchFamily="34" charset="0"/>
              </a:rPr>
              <a:t>Retrieved October 31, 2023, from</a:t>
            </a:r>
            <a:r>
              <a:rPr lang="en-ID" sz="1800" i="1" dirty="0">
                <a:latin typeface="Arial" panose="020B0604020202020204" pitchFamily="34" charset="0"/>
                <a:cs typeface="Arial" panose="020B0604020202020204" pitchFamily="34" charset="0"/>
              </a:rPr>
              <a:t> </a:t>
            </a:r>
            <a:r>
              <a:rPr lang="en-ID" sz="1800" dirty="0">
                <a:latin typeface="Arial" panose="020B0604020202020204" pitchFamily="34" charset="0"/>
                <a:cs typeface="Arial" panose="020B0604020202020204" pitchFamily="34" charset="0"/>
                <a:hlinkClick r:id="rId3"/>
              </a:rPr>
              <a:t>https://tsh.io/blog/why-use-typescript/</a:t>
            </a:r>
            <a:r>
              <a:rPr lang="en-ID" sz="1800" dirty="0">
                <a:latin typeface="Arial" panose="020B0604020202020204" pitchFamily="34" charset="0"/>
                <a:cs typeface="Arial" panose="020B0604020202020204" pitchFamily="34" charset="0"/>
              </a:rPr>
              <a:t> </a:t>
            </a:r>
            <a:endParaRPr lang="en-ID" sz="1800" dirty="0">
              <a:effectLst/>
              <a:latin typeface="Arial" panose="020B0604020202020204" pitchFamily="34" charset="0"/>
              <a:ea typeface="Times New Roman" panose="02020603050405020304" pitchFamily="18" charset="0"/>
              <a:cs typeface="Arial" panose="020B0604020202020204" pitchFamily="34" charset="0"/>
            </a:endParaRPr>
          </a:p>
          <a:p>
            <a:pPr>
              <a:lnSpc>
                <a:spcPct val="115000"/>
              </a:lnSpc>
            </a:pPr>
            <a:r>
              <a:rPr lang="en-ID" sz="1800" dirty="0" err="1">
                <a:effectLst/>
                <a:latin typeface="Arial" panose="020B0604020202020204" pitchFamily="34" charset="0"/>
                <a:ea typeface="Times New Roman" panose="02020603050405020304" pitchFamily="18" charset="0"/>
                <a:cs typeface="Arial" panose="020B0604020202020204" pitchFamily="34" charset="0"/>
              </a:rPr>
              <a:t>Raval</a:t>
            </a:r>
            <a:r>
              <a:rPr lang="en-ID" sz="1800" dirty="0">
                <a:effectLst/>
                <a:latin typeface="Arial" panose="020B0604020202020204" pitchFamily="34" charset="0"/>
                <a:ea typeface="Times New Roman" panose="02020603050405020304" pitchFamily="18" charset="0"/>
                <a:cs typeface="Arial" panose="020B0604020202020204" pitchFamily="34" charset="0"/>
              </a:rPr>
              <a:t>, N (2023). </a:t>
            </a:r>
            <a:r>
              <a:rPr lang="en-ID" sz="1800" i="1" dirty="0">
                <a:latin typeface="Arial" panose="020B0604020202020204" pitchFamily="34" charset="0"/>
                <a:cs typeface="Arial" panose="020B0604020202020204" pitchFamily="34" charset="0"/>
              </a:rPr>
              <a:t>TypeScript vs JavaScript: The Difference You Should Know. </a:t>
            </a:r>
            <a:r>
              <a:rPr lang="en-ID" sz="1800" dirty="0">
                <a:latin typeface="Arial" panose="020B0604020202020204" pitchFamily="34" charset="0"/>
                <a:cs typeface="Arial" panose="020B0604020202020204" pitchFamily="34" charset="0"/>
              </a:rPr>
              <a:t>Retrieved November 1, 2023, from </a:t>
            </a:r>
            <a:r>
              <a:rPr lang="en-US" sz="1800" dirty="0">
                <a:latin typeface="Arial" panose="020B0604020202020204" pitchFamily="34" charset="0"/>
                <a:cs typeface="Arial" panose="020B0604020202020204" pitchFamily="34" charset="0"/>
                <a:hlinkClick r:id="rId4"/>
              </a:rPr>
              <a:t>https://radixweb.com/blog/typescript-vs-javascript</a:t>
            </a:r>
            <a:r>
              <a:rPr lang="en-US" sz="1800" dirty="0">
                <a:latin typeface="Arial" panose="020B0604020202020204" pitchFamily="34" charset="0"/>
                <a:cs typeface="Arial" panose="020B0604020202020204" pitchFamily="34" charset="0"/>
              </a:rPr>
              <a:t> </a:t>
            </a:r>
            <a:r>
              <a:rPr lang="en-ID" sz="1600" b="1" dirty="0"/>
              <a:t> </a:t>
            </a:r>
            <a:endParaRPr lang="en-US" sz="1800" dirty="0">
              <a:solidFill>
                <a:srgbClr val="000000"/>
              </a:solidFill>
              <a:effectLst/>
              <a:latin typeface="Arial" panose="020B0604020202020204" pitchFamily="34" charset="0"/>
              <a:ea typeface="Arial" panose="020B0604020202020204" pitchFamily="34" charset="0"/>
            </a:endParaRPr>
          </a:p>
          <a:p>
            <a:pPr>
              <a:lnSpc>
                <a:spcPct val="115000"/>
              </a:lnSpc>
            </a:pPr>
            <a:r>
              <a:rPr lang="en-US" sz="1800" dirty="0" err="1">
                <a:solidFill>
                  <a:srgbClr val="000000"/>
                </a:solidFill>
                <a:effectLst/>
                <a:latin typeface="Arial" panose="020B0604020202020204" pitchFamily="34" charset="0"/>
                <a:ea typeface="Arial" panose="020B0604020202020204" pitchFamily="34" charset="0"/>
              </a:rPr>
              <a:t>Rosenwasser</a:t>
            </a:r>
            <a:r>
              <a:rPr lang="en-US" sz="1800" dirty="0">
                <a:solidFill>
                  <a:srgbClr val="000000"/>
                </a:solidFill>
                <a:effectLst/>
                <a:latin typeface="Arial" panose="020B0604020202020204" pitchFamily="34" charset="0"/>
                <a:ea typeface="Arial" panose="020B0604020202020204" pitchFamily="34" charset="0"/>
              </a:rPr>
              <a:t>, D. (2020). Announcing TypeScript 4.0. </a:t>
            </a:r>
            <a:r>
              <a:rPr lang="en-US" sz="1800" i="1" dirty="0">
                <a:solidFill>
                  <a:srgbClr val="000000"/>
                </a:solidFill>
                <a:effectLst/>
                <a:latin typeface="Arial" panose="020B0604020202020204" pitchFamily="34" charset="0"/>
                <a:ea typeface="Arial" panose="020B0604020202020204" pitchFamily="34" charset="0"/>
              </a:rPr>
              <a:t>TypeScript</a:t>
            </a:r>
            <a:r>
              <a:rPr lang="en-US" sz="1800" dirty="0">
                <a:solidFill>
                  <a:srgbClr val="000000"/>
                </a:solidFill>
                <a:effectLst/>
                <a:latin typeface="Arial" panose="020B0604020202020204" pitchFamily="34" charset="0"/>
                <a:ea typeface="Arial" panose="020B0604020202020204" pitchFamily="34" charset="0"/>
              </a:rPr>
              <a:t>. Retrieved October 31, 2023, from </a:t>
            </a:r>
            <a:r>
              <a:rPr lang="en-ID" sz="1800" u="sng" dirty="0">
                <a:solidFill>
                  <a:srgbClr val="0000FF"/>
                </a:solidFill>
                <a:effectLst/>
                <a:latin typeface="Arial" panose="020B0604020202020204" pitchFamily="34" charset="0"/>
                <a:ea typeface="Arial" panose="020B0604020202020204" pitchFamily="34" charset="0"/>
                <a:hlinkClick r:id="rId5"/>
              </a:rPr>
              <a:t>https://devblogs.microsoft.com/typescript/announcing-typescript-4-0/</a:t>
            </a:r>
            <a:r>
              <a:rPr lang="en-ID" sz="1800" b="1" dirty="0">
                <a:solidFill>
                  <a:srgbClr val="000000"/>
                </a:solidFill>
                <a:effectLst/>
                <a:latin typeface="Arial" panose="020B0604020202020204" pitchFamily="34" charset="0"/>
                <a:ea typeface="Arial" panose="020B0604020202020204" pitchFamily="34" charset="0"/>
              </a:rPr>
              <a:t> </a:t>
            </a:r>
            <a:endParaRPr lang="en-ID" sz="1800" dirty="0">
              <a:effectLst/>
              <a:latin typeface="Times New Roman" panose="02020603050405020304" pitchFamily="18" charset="0"/>
              <a:ea typeface="Times New Roman" panose="02020603050405020304" pitchFamily="18" charset="0"/>
            </a:endParaRPr>
          </a:p>
          <a:p>
            <a:pPr>
              <a:lnSpc>
                <a:spcPct val="115000"/>
              </a:lnSpc>
            </a:pPr>
            <a:r>
              <a:rPr lang="en-US" sz="1800" dirty="0" err="1">
                <a:solidFill>
                  <a:srgbClr val="000000"/>
                </a:solidFill>
                <a:effectLst/>
                <a:latin typeface="Arial" panose="020B0604020202020204" pitchFamily="34" charset="0"/>
                <a:ea typeface="Arial" panose="020B0604020202020204" pitchFamily="34" charset="0"/>
              </a:rPr>
              <a:t>Rosenwasser</a:t>
            </a:r>
            <a:r>
              <a:rPr lang="en-US" sz="1800" dirty="0">
                <a:solidFill>
                  <a:srgbClr val="000000"/>
                </a:solidFill>
                <a:effectLst/>
                <a:latin typeface="Arial" panose="020B0604020202020204" pitchFamily="34" charset="0"/>
                <a:ea typeface="Arial" panose="020B0604020202020204" pitchFamily="34" charset="0"/>
              </a:rPr>
              <a:t>, D. (2023). Announcing TypeScript 5.0. </a:t>
            </a:r>
            <a:r>
              <a:rPr lang="en-US" sz="1800" i="1" dirty="0">
                <a:solidFill>
                  <a:srgbClr val="000000"/>
                </a:solidFill>
                <a:effectLst/>
                <a:latin typeface="Arial" panose="020B0604020202020204" pitchFamily="34" charset="0"/>
                <a:ea typeface="Arial" panose="020B0604020202020204" pitchFamily="34" charset="0"/>
              </a:rPr>
              <a:t>TypeScript</a:t>
            </a:r>
            <a:r>
              <a:rPr lang="en-US" sz="1800" dirty="0">
                <a:solidFill>
                  <a:srgbClr val="000000"/>
                </a:solidFill>
                <a:effectLst/>
                <a:latin typeface="Arial" panose="020B0604020202020204" pitchFamily="34" charset="0"/>
                <a:ea typeface="Arial" panose="020B0604020202020204" pitchFamily="34" charset="0"/>
              </a:rPr>
              <a:t>. Retrieved October 31, 2023, from </a:t>
            </a:r>
            <a:r>
              <a:rPr lang="en-ID" sz="1800" u="sng" dirty="0">
                <a:solidFill>
                  <a:srgbClr val="0000FF"/>
                </a:solidFill>
                <a:effectLst/>
                <a:latin typeface="Arial" panose="020B0604020202020204" pitchFamily="34" charset="0"/>
                <a:ea typeface="Arial" panose="020B0604020202020204" pitchFamily="34" charset="0"/>
                <a:hlinkClick r:id="rId6"/>
              </a:rPr>
              <a:t>https://devblogs.microsoft.com/typescript/announcing-typescript-5-0/</a:t>
            </a:r>
            <a:endParaRPr lang="en-ID" sz="1800" dirty="0">
              <a:effectLst/>
              <a:latin typeface="Times New Roman" panose="02020603050405020304" pitchFamily="18" charset="0"/>
              <a:ea typeface="Times New Roman" panose="02020603050405020304" pitchFamily="18" charset="0"/>
            </a:endParaRPr>
          </a:p>
          <a:p>
            <a:pPr>
              <a:lnSpc>
                <a:spcPct val="115000"/>
              </a:lnSpc>
            </a:pPr>
            <a:r>
              <a:rPr lang="en-US" sz="1800" dirty="0">
                <a:solidFill>
                  <a:srgbClr val="000000"/>
                </a:solidFill>
                <a:effectLst/>
                <a:latin typeface="Arial" panose="020B0604020202020204" pitchFamily="34" charset="0"/>
                <a:ea typeface="Arial" panose="020B0604020202020204" pitchFamily="34" charset="0"/>
              </a:rPr>
              <a:t>Tung, L. (2020). TypeScript creator: How the programming language beat Microsoft's open-source fears. </a:t>
            </a:r>
            <a:r>
              <a:rPr lang="en-ID" sz="1800" i="1" dirty="0">
                <a:solidFill>
                  <a:srgbClr val="000000"/>
                </a:solidFill>
                <a:effectLst/>
                <a:latin typeface="Arial" panose="020B0604020202020204" pitchFamily="34" charset="0"/>
                <a:ea typeface="Arial" panose="020B0604020202020204" pitchFamily="34" charset="0"/>
              </a:rPr>
              <a:t>ZDNET</a:t>
            </a:r>
            <a:r>
              <a:rPr lang="en-ID" sz="1800" dirty="0">
                <a:solidFill>
                  <a:srgbClr val="000000"/>
                </a:solidFill>
                <a:effectLst/>
                <a:latin typeface="Arial" panose="020B0604020202020204" pitchFamily="34" charset="0"/>
                <a:ea typeface="Arial" panose="020B0604020202020204" pitchFamily="34" charset="0"/>
              </a:rPr>
              <a:t>. Retrieved October 31, 2023, from </a:t>
            </a:r>
            <a:r>
              <a:rPr lang="en-ID" sz="1800" u="sng" dirty="0">
                <a:solidFill>
                  <a:srgbClr val="0000FF"/>
                </a:solidFill>
                <a:effectLst/>
                <a:latin typeface="Arial" panose="020B0604020202020204" pitchFamily="34" charset="0"/>
                <a:ea typeface="Arial" panose="020B0604020202020204" pitchFamily="34" charset="0"/>
                <a:hlinkClick r:id="rId7"/>
              </a:rPr>
              <a:t>https://www.zdnet.com/article/typescript-creator-how-the-programming-language-beat-microsofts-open-source-fears/</a:t>
            </a:r>
            <a:endParaRPr lang="en-ID" sz="1800" u="sng" dirty="0">
              <a:solidFill>
                <a:srgbClr val="0000FF"/>
              </a:solidFill>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81555497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{7996DD82-BAF0-2647-8F1E-35039BEACA19}tf10001119</Template>
  <TotalTime>404</TotalTime>
  <Words>1079</Words>
  <Application>Microsoft Macintosh PowerPoint</Application>
  <PresentationFormat>Widescreen</PresentationFormat>
  <Paragraphs>66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Palatino Linotype</vt:lpstr>
      <vt:lpstr>Times New Roman</vt:lpstr>
      <vt:lpstr>Gallery</vt:lpstr>
      <vt:lpstr>Why we should include TypeScript in our development process</vt:lpstr>
      <vt:lpstr>Agenda</vt:lpstr>
      <vt:lpstr>What is TypeScript</vt:lpstr>
      <vt:lpstr>PowerPoint Presentation</vt:lpstr>
      <vt:lpstr>The benefits to our company from adopting TypeScript</vt:lpstr>
      <vt:lpstr>The benefits to our company from adopting TypeScript</vt:lpstr>
      <vt:lpstr>Bonus benefit: Future proofing the company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D339 Task 2 (WGM2) Template</dc:title>
  <dc:creator>Diana Tucker</dc:creator>
  <cp:lastModifiedBy>William Jackson</cp:lastModifiedBy>
  <cp:revision>5</cp:revision>
  <dcterms:created xsi:type="dcterms:W3CDTF">2023-03-06T15:14:42Z</dcterms:created>
  <dcterms:modified xsi:type="dcterms:W3CDTF">2023-11-01T20:10:17Z</dcterms:modified>
</cp:coreProperties>
</file>
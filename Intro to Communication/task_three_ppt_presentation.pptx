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4"/>
  </p:sldMasterIdLst>
  <p:notesMasterIdLst>
    <p:notesMasterId r:id="rId12"/>
  </p:notesMasterIdLst>
  <p:sldIdLst>
    <p:sldId id="256" r:id="rId5"/>
    <p:sldId id="258" r:id="rId6"/>
    <p:sldId id="259" r:id="rId7"/>
    <p:sldId id="260"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763009-1AEF-9CD3-D83A-0C38AE33C9CE}" name="Cassandra Johnson" initials="CJ" userId="S::cassandra.johnson@wgu.edu::0d4ad961-1e10-4991-a5d7-1e52622ca474" providerId="AD"/>
  <p188:author id="{DBB9B236-B366-5BA9-CC84-47E7086163E3}" name="Lisa Dawn" initials="LD" userId="S::lisa.dawn@wgu.edu::ba7b2f80-baf0-49e3-8275-9c2131475738" providerId="AD"/>
  <p188:author id="{293734D9-A2DE-F927-1F20-B4BC59BDE7A8}" name="Amanda Temkiewicz" initials="AT" userId="S::amanda.temkiewicz@wgu.edu::8d0555f7-5433-4365-9fff-755ca2acb09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76124"/>
  </p:normalViewPr>
  <p:slideViewPr>
    <p:cSldViewPr snapToGrid="0">
      <p:cViewPr varScale="1">
        <p:scale>
          <a:sx n="92" d="100"/>
          <a:sy n="92" d="100"/>
        </p:scale>
        <p:origin x="13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522D25-A371-624F-A213-8E6B551A4B80}" type="datetimeFigureOut">
              <a:rPr lang="en-US" smtClean="0"/>
              <a:t>10/22/23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EC154-E3B6-F641-AE57-1E09D15840DF}" type="slidenum">
              <a:rPr lang="en-US" smtClean="0"/>
              <a:t>‹#›</a:t>
            </a:fld>
            <a:endParaRPr lang="en-US"/>
          </a:p>
        </p:txBody>
      </p:sp>
    </p:spTree>
    <p:extLst>
      <p:ext uri="{BB962C8B-B14F-4D97-AF65-F5344CB8AC3E}">
        <p14:creationId xmlns:p14="http://schemas.microsoft.com/office/powerpoint/2010/main" val="3304796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Hello. Today I’m going to give a presentation on how the company could attain a fully-staffed, flexible workforce</a:t>
            </a:r>
          </a:p>
        </p:txBody>
      </p:sp>
      <p:sp>
        <p:nvSpPr>
          <p:cNvPr id="4" name="Slide Number Placeholder 3"/>
          <p:cNvSpPr>
            <a:spLocks noGrp="1"/>
          </p:cNvSpPr>
          <p:nvPr>
            <p:ph type="sldNum" sz="quarter" idx="5"/>
          </p:nvPr>
        </p:nvSpPr>
        <p:spPr/>
        <p:txBody>
          <a:bodyPr/>
          <a:lstStyle/>
          <a:p>
            <a:fld id="{518EC154-E3B6-F641-AE57-1E09D15840DF}" type="slidenum">
              <a:rPr lang="en-US" smtClean="0"/>
              <a:t>1</a:t>
            </a:fld>
            <a:endParaRPr lang="en-US"/>
          </a:p>
        </p:txBody>
      </p:sp>
    </p:spTree>
    <p:extLst>
      <p:ext uri="{BB962C8B-B14F-4D97-AF65-F5344CB8AC3E}">
        <p14:creationId xmlns:p14="http://schemas.microsoft.com/office/powerpoint/2010/main" val="1546634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effectLst/>
                <a:latin typeface="Helvetica Neue" panose="02000503000000020004" pitchFamily="2" charset="0"/>
              </a:rPr>
              <a:t>-I’d like to begin with some interesting responses from a Forbes survey among American employees this year (READ)</a:t>
            </a:r>
          </a:p>
          <a:p>
            <a:r>
              <a:rPr lang="en-ID" dirty="0">
                <a:effectLst/>
                <a:latin typeface="Helvetica Neue" panose="02000503000000020004" pitchFamily="2" charset="0"/>
              </a:rPr>
              <a:t>-</a:t>
            </a:r>
            <a:r>
              <a:rPr lang="en-US" dirty="0">
                <a:cs typeface="Calibri" panose="020F0502020204030204"/>
              </a:rPr>
              <a:t>The problem: Improving office attendance without hurting recruitment and retention efforts</a:t>
            </a:r>
          </a:p>
          <a:p>
            <a:r>
              <a:rPr lang="en-US" dirty="0">
                <a:cs typeface="Calibri" panose="020F0502020204030204"/>
              </a:rPr>
              <a:t>- My suggested solution therefore addresses both the need for increased office attendance and our recruitment needs</a:t>
            </a:r>
          </a:p>
          <a:p>
            <a:r>
              <a:rPr lang="en-ID" dirty="0">
                <a:effectLst/>
                <a:latin typeface="Helvetica Neue" panose="02000503000000020004" pitchFamily="2" charset="0"/>
              </a:rPr>
              <a:t>    Combined solution of a </a:t>
            </a:r>
          </a:p>
          <a:p>
            <a:r>
              <a:rPr lang="en-ID" dirty="0">
                <a:effectLst/>
                <a:latin typeface="Helvetica Neue" panose="02000503000000020004" pitchFamily="2" charset="0"/>
              </a:rPr>
              <a:t>    -Role-based model –distinguish each role based on rank and function in order to determine if it’s fit for remote or require in-office presence</a:t>
            </a:r>
          </a:p>
          <a:p>
            <a:r>
              <a:rPr lang="en-ID" dirty="0">
                <a:effectLst/>
                <a:latin typeface="Helvetica Neue" panose="02000503000000020004" pitchFamily="2" charset="0"/>
              </a:rPr>
              <a:t>    -hub-and-spoke model whereby the main office complemented by regional branch offices </a:t>
            </a:r>
          </a:p>
          <a:p>
            <a:r>
              <a:rPr lang="en-ID" dirty="0">
                <a:effectLst/>
                <a:latin typeface="Helvetica Neue" panose="02000503000000020004" pitchFamily="2" charset="0"/>
              </a:rPr>
              <a:t>To implement these models, I suggest three measures:</a:t>
            </a:r>
          </a:p>
          <a:p>
            <a:pPr marL="171450" indent="-171450">
              <a:buFontTx/>
              <a:buChar char="-"/>
            </a:pPr>
            <a:r>
              <a:rPr lang="en-ID" dirty="0">
                <a:effectLst/>
                <a:latin typeface="Helvetica Neue" panose="02000503000000020004" pitchFamily="2" charset="0"/>
              </a:rPr>
              <a:t>That every role in the company is reviewed for remote fit</a:t>
            </a:r>
          </a:p>
          <a:p>
            <a:pPr marL="171450" indent="-171450">
              <a:buFontTx/>
              <a:buChar char="-"/>
            </a:pPr>
            <a:r>
              <a:rPr lang="en-ID" dirty="0">
                <a:effectLst/>
                <a:latin typeface="Helvetica Neue" panose="02000503000000020004" pitchFamily="2" charset="0"/>
              </a:rPr>
              <a:t>That we establish relocation offices</a:t>
            </a:r>
          </a:p>
          <a:p>
            <a:r>
              <a:rPr lang="en-ID" dirty="0">
                <a:effectLst/>
                <a:latin typeface="Helvetica Neue" panose="02000503000000020004" pitchFamily="2" charset="0"/>
              </a:rPr>
              <a:t>- And finally, that we provide relocation packages for employees relocating in relation to work</a:t>
            </a:r>
          </a:p>
          <a:p>
            <a:r>
              <a:rPr lang="en-ID" dirty="0">
                <a:effectLst/>
                <a:latin typeface="Helvetica Neue" panose="02000503000000020004" pitchFamily="2" charset="0"/>
              </a:rPr>
              <a:t>IMAGE – puzzle taken from 123rf.com illustrates the missing pieces in among our staff in the form of vacant positions</a:t>
            </a:r>
          </a:p>
          <a:p>
            <a:endParaRPr lang="en-US" dirty="0"/>
          </a:p>
        </p:txBody>
      </p:sp>
      <p:sp>
        <p:nvSpPr>
          <p:cNvPr id="4" name="Slide Number Placeholder 3"/>
          <p:cNvSpPr>
            <a:spLocks noGrp="1"/>
          </p:cNvSpPr>
          <p:nvPr>
            <p:ph type="sldNum" sz="quarter" idx="5"/>
          </p:nvPr>
        </p:nvSpPr>
        <p:spPr/>
        <p:txBody>
          <a:bodyPr/>
          <a:lstStyle/>
          <a:p>
            <a:fld id="{518EC154-E3B6-F641-AE57-1E09D15840DF}" type="slidenum">
              <a:rPr lang="en-US" smtClean="0"/>
              <a:t>2</a:t>
            </a:fld>
            <a:endParaRPr lang="en-US"/>
          </a:p>
        </p:txBody>
      </p:sp>
    </p:spTree>
    <p:extLst>
      <p:ext uri="{BB962C8B-B14F-4D97-AF65-F5344CB8AC3E}">
        <p14:creationId xmlns:p14="http://schemas.microsoft.com/office/powerpoint/2010/main" val="2380465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effectLst/>
                <a:latin typeface="Helvetica Neue" panose="02000503000000020004" pitchFamily="2" charset="0"/>
              </a:rPr>
              <a:t>-We have three related problems that all will be addressed with my proposed solution </a:t>
            </a:r>
          </a:p>
          <a:p>
            <a:r>
              <a:rPr lang="en-ID" dirty="0">
                <a:effectLst/>
                <a:latin typeface="Helvetica Neue" panose="02000503000000020004" pitchFamily="2" charset="0"/>
              </a:rPr>
              <a:t>    - We’ve long experienced problems with recruitment/retention before, during and after COVID (though easier since COVID-induced work-from-home policy)</a:t>
            </a:r>
          </a:p>
          <a:p>
            <a:r>
              <a:rPr lang="en-ID" dirty="0">
                <a:effectLst/>
                <a:latin typeface="Helvetica Neue" panose="02000503000000020004" pitchFamily="2" charset="0"/>
              </a:rPr>
              <a:t>        -This is an Industry-wide challenge (not just our company) =&gt; IMAGE: Analysis by recruitment firm </a:t>
            </a:r>
            <a:r>
              <a:rPr lang="en-ID" dirty="0" err="1">
                <a:effectLst/>
                <a:latin typeface="Helvetica Neue" panose="02000503000000020004" pitchFamily="2" charset="0"/>
              </a:rPr>
              <a:t>Alcor</a:t>
            </a:r>
            <a:r>
              <a:rPr lang="en-ID" dirty="0">
                <a:effectLst/>
                <a:latin typeface="Helvetica Neue" panose="02000503000000020004" pitchFamily="2" charset="0"/>
              </a:rPr>
              <a:t> points to the recruitment challenges confronting the industry (top 3 particularly pertinent) READ</a:t>
            </a:r>
          </a:p>
          <a:p>
            <a:r>
              <a:rPr lang="en-ID" dirty="0">
                <a:effectLst/>
                <a:latin typeface="Helvetica Neue" panose="02000503000000020004" pitchFamily="2" charset="0"/>
              </a:rPr>
              <a:t>       -Retention has been an challenge especially when the economy is doing well and competitors have poached our employees with enticing offers</a:t>
            </a:r>
          </a:p>
          <a:p>
            <a:r>
              <a:rPr lang="en-ID" dirty="0">
                <a:effectLst/>
                <a:latin typeface="Helvetica Neue" panose="02000503000000020004" pitchFamily="2" charset="0"/>
              </a:rPr>
              <a:t>    - We currently have low levels of voluntary office attendance since a return to office has not been mandated, but the company has expressed higher office attendance as a Strategic priority.</a:t>
            </a:r>
          </a:p>
          <a:p>
            <a:pPr marL="628650" lvl="1" indent="-171450">
              <a:buFontTx/>
              <a:buChar char="-"/>
            </a:pPr>
            <a:r>
              <a:rPr lang="en-ID" dirty="0">
                <a:effectLst/>
                <a:latin typeface="Helvetica Neue" panose="02000503000000020004" pitchFamily="2" charset="0"/>
              </a:rPr>
              <a:t>Based on the surveys referenced in the introduction, a strict, across the board RTO policy would most likely exacerbate recruitment &amp; retention challenges</a:t>
            </a:r>
          </a:p>
        </p:txBody>
      </p:sp>
      <p:sp>
        <p:nvSpPr>
          <p:cNvPr id="4" name="Slide Number Placeholder 3"/>
          <p:cNvSpPr>
            <a:spLocks noGrp="1"/>
          </p:cNvSpPr>
          <p:nvPr>
            <p:ph type="sldNum" sz="quarter" idx="5"/>
          </p:nvPr>
        </p:nvSpPr>
        <p:spPr/>
        <p:txBody>
          <a:bodyPr/>
          <a:lstStyle/>
          <a:p>
            <a:fld id="{518EC154-E3B6-F641-AE57-1E09D15840DF}" type="slidenum">
              <a:rPr lang="en-US" smtClean="0"/>
              <a:t>3</a:t>
            </a:fld>
            <a:endParaRPr lang="en-US"/>
          </a:p>
        </p:txBody>
      </p:sp>
    </p:spTree>
    <p:extLst>
      <p:ext uri="{BB962C8B-B14F-4D97-AF65-F5344CB8AC3E}">
        <p14:creationId xmlns:p14="http://schemas.microsoft.com/office/powerpoint/2010/main" val="796023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i="0" u="none" dirty="0">
                <a:effectLst/>
                <a:latin typeface="Helvetica Neue" panose="02000503000000020004" pitchFamily="2" charset="0"/>
              </a:rPr>
              <a:t>My solution encompasses two models:</a:t>
            </a:r>
          </a:p>
          <a:p>
            <a:endParaRPr lang="en-ID" i="1" dirty="0">
              <a:effectLst/>
              <a:latin typeface="Helvetica Neue" panose="02000503000000020004" pitchFamily="2" charset="0"/>
            </a:endParaRPr>
          </a:p>
          <a:p>
            <a:r>
              <a:rPr lang="en-ID" i="1" dirty="0">
                <a:effectLst/>
                <a:latin typeface="Helvetica Neue" panose="02000503000000020004" pitchFamily="2" charset="0"/>
              </a:rPr>
              <a:t>Role-based model  </a:t>
            </a:r>
            <a:r>
              <a:rPr lang="en-ID" dirty="0">
                <a:effectLst/>
                <a:latin typeface="Helvetica Neue" panose="02000503000000020004" pitchFamily="2" charset="0"/>
              </a:rPr>
              <a:t>based on rank and function</a:t>
            </a:r>
          </a:p>
          <a:p>
            <a:endParaRPr lang="en-ID" i="1" dirty="0">
              <a:effectLst/>
              <a:latin typeface="Helvetica Neue" panose="02000503000000020004" pitchFamily="2" charset="0"/>
            </a:endParaRPr>
          </a:p>
          <a:p>
            <a:r>
              <a:rPr lang="en-ID" i="1" dirty="0">
                <a:effectLst/>
                <a:latin typeface="Helvetica Neue" panose="02000503000000020004" pitchFamily="2" charset="0"/>
              </a:rPr>
              <a:t>In terms of rank</a:t>
            </a:r>
          </a:p>
          <a:p>
            <a:pPr marL="171450" indent="-171450">
              <a:buFont typeface="Symbol" pitchFamily="2" charset="2"/>
              <a:buChar char="Þ"/>
            </a:pPr>
            <a:r>
              <a:rPr lang="en-ID" dirty="0">
                <a:effectLst/>
                <a:latin typeface="Helvetica Neue" panose="02000503000000020004" pitchFamily="2" charset="0"/>
              </a:rPr>
              <a:t>Higher-ranked, executive roles could entail mandatory presence at the main office to in order to participate in strategic meetings and coordinate efforts. </a:t>
            </a:r>
          </a:p>
          <a:p>
            <a:pPr marL="171450" indent="-171450">
              <a:buFont typeface="Symbol" pitchFamily="2" charset="2"/>
              <a:buChar char="Þ"/>
            </a:pPr>
            <a:r>
              <a:rPr lang="en-ID" dirty="0">
                <a:effectLst/>
                <a:latin typeface="Helvetica Neue" panose="02000503000000020004" pitchFamily="2" charset="0"/>
              </a:rPr>
              <a:t>These employees would also be the most motivated to move in order to preserve their advanced roles</a:t>
            </a:r>
          </a:p>
          <a:p>
            <a:endParaRPr lang="en-ID" i="1" dirty="0">
              <a:effectLst/>
              <a:latin typeface="Helvetica Neue" panose="02000503000000020004" pitchFamily="2" charset="0"/>
            </a:endParaRPr>
          </a:p>
          <a:p>
            <a:r>
              <a:rPr lang="en-ID" dirty="0">
                <a:effectLst/>
                <a:latin typeface="Helvetica Neue" panose="02000503000000020004" pitchFamily="2" charset="0"/>
              </a:rPr>
              <a:t>-I also suggest differentiating based on function. Some functions are more collaborative than others. For example, employees involved in business strategy or system design could be asked to work from the main office permanently or at least when these whiteboard activities occur. </a:t>
            </a:r>
          </a:p>
          <a:p>
            <a:endParaRPr lang="en-ID" dirty="0">
              <a:effectLst/>
              <a:latin typeface="Helvetica Neue" panose="02000503000000020004" pitchFamily="2" charset="0"/>
            </a:endParaRPr>
          </a:p>
          <a:p>
            <a:r>
              <a:rPr lang="en-ID" i="1" dirty="0">
                <a:effectLst/>
                <a:latin typeface="Helvetica Neue" panose="02000503000000020004" pitchFamily="2" charset="0"/>
              </a:rPr>
              <a:t>The Hub-and-spoke model entails </a:t>
            </a:r>
            <a:endParaRPr lang="en-ID" dirty="0">
              <a:effectLst/>
              <a:latin typeface="Helvetica Neue" panose="02000503000000020004" pitchFamily="2" charset="0"/>
            </a:endParaRPr>
          </a:p>
          <a:p>
            <a:pPr marL="171450" indent="-171450">
              <a:buFontTx/>
              <a:buChar char="-"/>
            </a:pPr>
            <a:r>
              <a:rPr lang="en-ID" dirty="0">
                <a:effectLst/>
                <a:latin typeface="Helvetica Neue" panose="02000503000000020004" pitchFamily="2" charset="0"/>
              </a:rPr>
              <a:t>regional office in areas of high customer or employee concentration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IMAGE on the right taken from an article by Hickey &amp; </a:t>
            </a:r>
            <a:r>
              <a:rPr lang="en-US" dirty="0" err="1"/>
              <a:t>Douetil</a:t>
            </a:r>
            <a:r>
              <a:rPr lang="en-US" dirty="0"/>
              <a:t> illustrates the  Hub &amp; Spoke model with Centralized Office complemented by satellite offices and some still working from home. </a:t>
            </a:r>
            <a:endParaRPr lang="en-ID" dirty="0">
              <a:effectLst/>
              <a:latin typeface="Helvetica Neue" panose="02000503000000020004" pitchFamily="2" charset="0"/>
            </a:endParaRPr>
          </a:p>
          <a:p>
            <a:pPr marL="171450" indent="-171450">
              <a:buFontTx/>
              <a:buChar char="-"/>
            </a:pPr>
            <a:endParaRPr lang="en-ID" dirty="0">
              <a:effectLst/>
              <a:latin typeface="Helvetica Neue" panose="02000503000000020004" pitchFamily="2" charset="0"/>
            </a:endParaRPr>
          </a:p>
          <a:p>
            <a:r>
              <a:rPr lang="en-US" dirty="0"/>
              <a:t>Now, the effects of my proposal include cost savings from downsizing headquarter space in the expensive Boston area (even accounting for marginal regional office footprint). </a:t>
            </a:r>
          </a:p>
          <a:p>
            <a:r>
              <a:rPr lang="en-US" dirty="0"/>
              <a:t>  - Crucially, we can use this policy as a recruitment &amp; retention advantage due to remote and regional hiring and employees in roles conducive to remote work could chose to remain remote and thus remain with the company </a:t>
            </a:r>
          </a:p>
          <a:p>
            <a:r>
              <a:rPr lang="en-US" dirty="0"/>
              <a:t>  - It would also ensure adequate physical attendance in that we would have a full-on return to office for roles that are essential to the office</a:t>
            </a:r>
          </a:p>
        </p:txBody>
      </p:sp>
      <p:sp>
        <p:nvSpPr>
          <p:cNvPr id="4" name="Slide Number Placeholder 3"/>
          <p:cNvSpPr>
            <a:spLocks noGrp="1"/>
          </p:cNvSpPr>
          <p:nvPr>
            <p:ph type="sldNum" sz="quarter" idx="5"/>
          </p:nvPr>
        </p:nvSpPr>
        <p:spPr/>
        <p:txBody>
          <a:bodyPr/>
          <a:lstStyle/>
          <a:p>
            <a:fld id="{518EC154-E3B6-F641-AE57-1E09D15840DF}" type="slidenum">
              <a:rPr lang="en-US" smtClean="0"/>
              <a:t>4</a:t>
            </a:fld>
            <a:endParaRPr lang="en-US"/>
          </a:p>
        </p:txBody>
      </p:sp>
    </p:spTree>
    <p:extLst>
      <p:ext uri="{BB962C8B-B14F-4D97-AF65-F5344CB8AC3E}">
        <p14:creationId xmlns:p14="http://schemas.microsoft.com/office/powerpoint/2010/main" val="1424422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implement this proposal I suggest we:</a:t>
            </a:r>
          </a:p>
          <a:p>
            <a:pPr marL="628650" lvl="1" indent="-171450">
              <a:buFontTx/>
              <a:buChar char="-"/>
            </a:pPr>
            <a:r>
              <a:rPr lang="en-US" dirty="0"/>
              <a:t>Review every role for remote fit based on the rank and function (if high rank or collaborative, then require office attendance)</a:t>
            </a:r>
          </a:p>
          <a:p>
            <a:pPr marL="171450" indent="-171450">
              <a:buFontTx/>
              <a:buChar char="-"/>
            </a:pPr>
            <a:r>
              <a:rPr lang="en-US" dirty="0"/>
              <a:t>Identify where to establish regional offices </a:t>
            </a:r>
          </a:p>
          <a:p>
            <a:pPr marL="628650" lvl="1" indent="-171450">
              <a:buFontTx/>
              <a:buChar char="-"/>
            </a:pPr>
            <a:r>
              <a:rPr lang="en-ID" dirty="0">
                <a:effectLst/>
                <a:latin typeface="Helvetica Neue" panose="02000503000000020004" pitchFamily="2" charset="0"/>
              </a:rPr>
              <a:t>many employees in the Philadelphia and Phoenix areas could justify a leased office space there</a:t>
            </a:r>
          </a:p>
          <a:p>
            <a:pPr marL="628650" lvl="1" indent="-171450">
              <a:buFontTx/>
              <a:buChar char="-"/>
            </a:pPr>
            <a:r>
              <a:rPr lang="en-ID" dirty="0">
                <a:effectLst/>
                <a:latin typeface="Helvetica Neue" panose="02000503000000020004" pitchFamily="2" charset="0"/>
              </a:rPr>
              <a:t>In addition, we have many current and potential clients in the San Francisco Bay area and Chicago, so a sales office with additional work desks could be established there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Arial" panose="020B0604020202020204" pitchFamily="34" charset="0"/>
                <a:ea typeface="Arial" panose="020B0604020202020204" pitchFamily="34" charset="0"/>
                <a:cs typeface="Times New Roman" panose="02020603050405020304" pitchFamily="18" charset="0"/>
              </a:rPr>
              <a:t>And for those who are requested and agree to relocate in order to commute to an office, I suggest a relocation package to so that they do not shoulder needless personal costs from adhering to company policy. (Depending on available funds, this policy could be expanded to include those who voluntarily agree to relocate even when their roles are deemed fit for remote work.)</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lvl="0" indent="-171450">
              <a:buFontTx/>
              <a:buChar char="-"/>
            </a:pPr>
            <a:endParaRPr lang="en-US" dirty="0"/>
          </a:p>
          <a:p>
            <a:pPr marL="171450" lvl="0" indent="-171450">
              <a:buFontTx/>
              <a:buChar char="-"/>
            </a:pPr>
            <a:r>
              <a:rPr lang="en-US" dirty="0"/>
              <a:t>Once this policy is announced – we could aggressively recruit in the coming months for all roles (remote, regional, Boston-based) </a:t>
            </a:r>
          </a:p>
          <a:p>
            <a:pPr marL="628650" lvl="1" indent="-171450">
              <a:buFontTx/>
              <a:buChar char="-"/>
            </a:pPr>
            <a:r>
              <a:rPr lang="en-US" dirty="0"/>
              <a:t>We have a historical of opportunity to recruit currently due to the large number of layoffs during the last year-and-a-half</a:t>
            </a:r>
          </a:p>
          <a:p>
            <a:pPr marL="628650" lvl="1" indent="-171450">
              <a:buFontTx/>
              <a:buChar char="-"/>
            </a:pPr>
            <a:r>
              <a:rPr lang="en-US" dirty="0"/>
              <a:t>The graph you see here from </a:t>
            </a:r>
            <a:r>
              <a:rPr lang="en-US" dirty="0" err="1"/>
              <a:t>layoffs.fyi</a:t>
            </a:r>
            <a:r>
              <a:rPr lang="en-US" dirty="0"/>
              <a:t> illustrates how over 400.000 tech employees have been laid off in 2022 and 2023 combined. These are experienced employees who could meet our staffing needs. </a:t>
            </a:r>
          </a:p>
        </p:txBody>
      </p:sp>
      <p:sp>
        <p:nvSpPr>
          <p:cNvPr id="4" name="Slide Number Placeholder 3"/>
          <p:cNvSpPr>
            <a:spLocks noGrp="1"/>
          </p:cNvSpPr>
          <p:nvPr>
            <p:ph type="sldNum" sz="quarter" idx="5"/>
          </p:nvPr>
        </p:nvSpPr>
        <p:spPr/>
        <p:txBody>
          <a:bodyPr/>
          <a:lstStyle/>
          <a:p>
            <a:fld id="{518EC154-E3B6-F641-AE57-1E09D15840DF}" type="slidenum">
              <a:rPr lang="en-US" smtClean="0"/>
              <a:t>5</a:t>
            </a:fld>
            <a:endParaRPr lang="en-US"/>
          </a:p>
        </p:txBody>
      </p:sp>
    </p:spTree>
    <p:extLst>
      <p:ext uri="{BB962C8B-B14F-4D97-AF65-F5344CB8AC3E}">
        <p14:creationId xmlns:p14="http://schemas.microsoft.com/office/powerpoint/2010/main" val="1566323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effectLst/>
                <a:latin typeface="Helvetica Neue" panose="02000503000000020004" pitchFamily="2" charset="0"/>
              </a:rPr>
              <a:t>- To conclude,</a:t>
            </a:r>
          </a:p>
          <a:p>
            <a:r>
              <a:rPr lang="en-ID" dirty="0">
                <a:effectLst/>
                <a:latin typeface="Helvetica Neue" panose="02000503000000020004" pitchFamily="2" charset="0"/>
              </a:rPr>
              <a:t>  -To address the our challenges with recruitment, retention and low office attendance, we can apply the combined role-based model and the hub-and-spoke model as suggested</a:t>
            </a:r>
          </a:p>
          <a:p>
            <a:r>
              <a:rPr lang="en-ID" dirty="0">
                <a:effectLst/>
                <a:latin typeface="Helvetica Neue" panose="02000503000000020004" pitchFamily="2" charset="0"/>
              </a:rPr>
              <a:t>	-I believe that we can brand this new policy and use it to seize the opportunity that the historical available tech </a:t>
            </a:r>
            <a:r>
              <a:rPr lang="en-ID" dirty="0" err="1">
                <a:effectLst/>
                <a:latin typeface="Helvetica Neue" panose="02000503000000020004" pitchFamily="2" charset="0"/>
              </a:rPr>
              <a:t>labor</a:t>
            </a:r>
            <a:r>
              <a:rPr lang="en-ID" dirty="0">
                <a:effectLst/>
                <a:latin typeface="Helvetica Neue" panose="02000503000000020004" pitchFamily="2" charset="0"/>
              </a:rPr>
              <a:t> pool has provided</a:t>
            </a:r>
          </a:p>
          <a:p>
            <a:r>
              <a:rPr lang="en-ID" dirty="0">
                <a:effectLst/>
                <a:latin typeface="Helvetica Neue" panose="02000503000000020004" pitchFamily="2" charset="0"/>
              </a:rPr>
              <a:t>		-In this way, we can finally fill out all missing pieces of our employee puzzle and thus realize the full potential of this company (illustrated by the completed puzzle image from </a:t>
            </a:r>
            <a:r>
              <a:rPr lang="en-ID" dirty="0" err="1">
                <a:effectLst/>
                <a:latin typeface="Helvetica Neue" panose="02000503000000020004" pitchFamily="2" charset="0"/>
              </a:rPr>
              <a:t>stock.adobe.com</a:t>
            </a:r>
            <a:r>
              <a:rPr lang="en-ID" dirty="0">
                <a:effectLst/>
                <a:latin typeface="Helvetica Neue" panose="02000503000000020004" pitchFamily="2" charset="0"/>
              </a:rPr>
              <a:t>)</a:t>
            </a:r>
          </a:p>
          <a:p>
            <a:endParaRPr lang="en-ID" dirty="0">
              <a:effectLst/>
              <a:latin typeface="Helvetica Neue" panose="02000503000000020004" pitchFamily="2" charset="0"/>
            </a:endParaRPr>
          </a:p>
          <a:p>
            <a:r>
              <a:rPr lang="en-ID" dirty="0">
                <a:effectLst/>
                <a:latin typeface="Helvetica Neue" panose="02000503000000020004" pitchFamily="2" charset="0"/>
              </a:rPr>
              <a:t>-I thank you for your attention!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518EC154-E3B6-F641-AE57-1E09D15840DF}" type="slidenum">
              <a:rPr lang="en-US" smtClean="0"/>
              <a:t>6</a:t>
            </a:fld>
            <a:endParaRPr lang="en-US"/>
          </a:p>
        </p:txBody>
      </p:sp>
    </p:spTree>
    <p:extLst>
      <p:ext uri="{BB962C8B-B14F-4D97-AF65-F5344CB8AC3E}">
        <p14:creationId xmlns:p14="http://schemas.microsoft.com/office/powerpoint/2010/main" val="3434128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EC154-E3B6-F641-AE57-1E09D15840DF}" type="slidenum">
              <a:rPr lang="en-US" smtClean="0"/>
              <a:t>7</a:t>
            </a:fld>
            <a:endParaRPr lang="en-US"/>
          </a:p>
        </p:txBody>
      </p:sp>
    </p:spTree>
    <p:extLst>
      <p:ext uri="{BB962C8B-B14F-4D97-AF65-F5344CB8AC3E}">
        <p14:creationId xmlns:p14="http://schemas.microsoft.com/office/powerpoint/2010/main" val="111664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62647B-55F1-41A1-84BB-681C8EB6D8A1}" type="datetimeFigureOut">
              <a:rPr lang="en-US" smtClean="0"/>
              <a:t>10/22/23</a:t>
            </a:fld>
            <a:endParaRPr lang="en-US"/>
          </a:p>
        </p:txBody>
      </p:sp>
      <p:sp>
        <p:nvSpPr>
          <p:cNvPr id="5" name="Footer Placeholder 4"/>
          <p:cNvSpPr>
            <a:spLocks noGrp="1"/>
          </p:cNvSpPr>
          <p:nvPr>
            <p:ph type="ftr" sz="quarter" idx="11"/>
          </p:nvPr>
        </p:nvSpPr>
        <p:spPr>
          <a:xfrm>
            <a:off x="2493105" y="329307"/>
            <a:ext cx="4897310"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CE5C469-707D-4932-A21E-B7D43A0A0C74}" type="slidenum">
              <a:rPr lang="en-US" smtClean="0"/>
              <a:t>‹#›</a:t>
            </a:fld>
            <a:endParaRPr lang="en-US"/>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77750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62647B-55F1-41A1-84BB-681C8EB6D8A1}" type="datetimeFigureOut">
              <a:rPr lang="en-US" smtClean="0"/>
              <a:t>10/22/23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5C469-707D-4932-A21E-B7D43A0A0C74}"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3240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62647B-55F1-41A1-84BB-681C8EB6D8A1}" type="datetimeFigureOut">
              <a:rPr lang="en-US" smtClean="0"/>
              <a:t>10/22/23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5C469-707D-4932-A21E-B7D43A0A0C74}" type="slidenum">
              <a:rPr lang="en-US" smtClean="0"/>
              <a:t>‹#›</a:t>
            </a:fld>
            <a:endParaRPr lang="en-US"/>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3959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62647B-55F1-41A1-84BB-681C8EB6D8A1}" type="datetimeFigureOut">
              <a:rPr lang="en-US" smtClean="0"/>
              <a:t>10/22/23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5C469-707D-4932-A21E-B7D43A0A0C74}" type="slidenum">
              <a:rPr lang="en-US" smtClean="0"/>
              <a:t>‹#›</a:t>
            </a:fld>
            <a:endParaRPr lang="en-US"/>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9055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62647B-55F1-41A1-84BB-681C8EB6D8A1}" type="datetimeFigureOut">
              <a:rPr lang="en-US" smtClean="0"/>
              <a:t>10/22/23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E5C469-707D-4932-A21E-B7D43A0A0C74}" type="slidenum">
              <a:rPr lang="en-US" smtClean="0"/>
              <a:t>‹#›</a:t>
            </a:fld>
            <a:endParaRPr lang="en-US"/>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5846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62647B-55F1-41A1-84BB-681C8EB6D8A1}" type="datetimeFigureOut">
              <a:rPr lang="en-US" smtClean="0"/>
              <a:t>10/22/23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E5C469-707D-4932-A21E-B7D43A0A0C74}" type="slidenum">
              <a:rPr lang="en-US" smtClean="0"/>
              <a:t>‹#›</a:t>
            </a:fld>
            <a:endParaRPr lang="en-US"/>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666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62647B-55F1-41A1-84BB-681C8EB6D8A1}" type="datetimeFigureOut">
              <a:rPr lang="en-US" smtClean="0"/>
              <a:t>10/22/23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E5C469-707D-4932-A21E-B7D43A0A0C74}" type="slidenum">
              <a:rPr lang="en-US" smtClean="0"/>
              <a:t>‹#›</a:t>
            </a:fld>
            <a:endParaRPr lang="en-US"/>
          </a:p>
        </p:txBody>
      </p:sp>
    </p:spTree>
    <p:extLst>
      <p:ext uri="{BB962C8B-B14F-4D97-AF65-F5344CB8AC3E}">
        <p14:creationId xmlns:p14="http://schemas.microsoft.com/office/powerpoint/2010/main" val="3358186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62647B-55F1-41A1-84BB-681C8EB6D8A1}" type="datetimeFigureOut">
              <a:rPr lang="en-US" smtClean="0"/>
              <a:t>10/22/23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5C469-707D-4932-A21E-B7D43A0A0C74}" type="slidenum">
              <a:rPr lang="en-US" smtClean="0"/>
              <a:t>‹#›</a:t>
            </a:fld>
            <a:endParaRPr lang="en-US"/>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738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1462647B-55F1-41A1-84BB-681C8EB6D8A1}" type="datetimeFigureOut">
              <a:rPr lang="en-US" smtClean="0"/>
              <a:t>10/22/23</a:t>
            </a:fld>
            <a:endParaRPr lang="en-US"/>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4CE5C469-707D-4932-A21E-B7D43A0A0C74}" type="slidenum">
              <a:rPr lang="en-US" smtClean="0"/>
              <a:t>‹#›</a:t>
            </a:fld>
            <a:endParaRPr lang="en-US"/>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62887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62647B-55F1-41A1-84BB-681C8EB6D8A1}" type="datetimeFigureOut">
              <a:rPr lang="en-US" smtClean="0"/>
              <a:t>10/22/23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5C469-707D-4932-A21E-B7D43A0A0C74}"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486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62647B-55F1-41A1-84BB-681C8EB6D8A1}" type="datetimeFigureOut">
              <a:rPr lang="en-US" smtClean="0"/>
              <a:t>10/22/23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5C469-707D-4932-A21E-B7D43A0A0C74}" type="slidenum">
              <a:rPr lang="en-US" smtClean="0"/>
              <a:t>‹#›</a:t>
            </a:fld>
            <a:endParaRPr lang="en-US"/>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0172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462647B-55F1-41A1-84BB-681C8EB6D8A1}" type="datetimeFigureOut">
              <a:rPr lang="en-US" smtClean="0"/>
              <a:t>10/22/23</a:t>
            </a:fld>
            <a:endParaRPr lang="en-US"/>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CE5C469-707D-4932-A21E-B7D43A0A0C74}" type="slidenum">
              <a:rPr lang="en-US" smtClean="0"/>
              <a:t>‹#›</a:t>
            </a:fld>
            <a:endParaRPr lang="en-US"/>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406145"/>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alcor-bpo.com/recruitment-news/7-common-it-recruitment-challenges-and-how-" TargetMode="External"/><Relationship Id="rId3" Type="http://schemas.openxmlformats.org/officeDocument/2006/relationships/hyperlink" Target="https://www.123rf.com/photo_47545853_puzzle-game-and-missing-pieces-on-blue-background.html" TargetMode="External"/><Relationship Id="rId7" Type="http://schemas.openxmlformats.org/officeDocument/2006/relationships/hyperlink" Target="https://www.areadevelopment.com/workplace-trends/workforce-q4-2021/adapting-to-agility-leveraging-hub-spoke-model.s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areadevelopment.com/workplace-trends/workforce-q4-2021/adapting-to-agility-leveraging-" TargetMode="External"/><Relationship Id="rId5" Type="http://schemas.openxmlformats.org/officeDocument/2006/relationships/hyperlink" Target="https://www.forbes.com/advisor/business/remote-work-statistics/" TargetMode="External"/><Relationship Id="rId10" Type="http://schemas.openxmlformats.org/officeDocument/2006/relationships/hyperlink" Target="https://layoffs.fyi/" TargetMode="External"/><Relationship Id="rId4" Type="http://schemas.openxmlformats.org/officeDocument/2006/relationships/hyperlink" Target="https://stock.adobe.com/pe/images/puzzles-grid-blank-template-jigsaw-puzzle-with-60-pieces-mosaic-background-for-thinking-game-is-10x6-size-game-with-details-vector-illustration/277250910" TargetMode="External"/><Relationship Id="rId9" Type="http://schemas.openxmlformats.org/officeDocument/2006/relationships/hyperlink" Target="https://alcor-bpo.com/recruitment-news/7-common-it-recruitment-challenges-and-how-to-solve-th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334A-8AEE-481F-B761-E53755DE8392}"/>
              </a:ext>
            </a:extLst>
          </p:cNvPr>
          <p:cNvSpPr>
            <a:spLocks noGrp="1"/>
          </p:cNvSpPr>
          <p:nvPr>
            <p:ph type="ctrTitle"/>
          </p:nvPr>
        </p:nvSpPr>
        <p:spPr>
          <a:xfrm>
            <a:off x="2493105" y="802298"/>
            <a:ext cx="8949595" cy="2541431"/>
          </a:xfrm>
        </p:spPr>
        <p:txBody>
          <a:bodyPr>
            <a:normAutofit fontScale="90000"/>
          </a:bodyPr>
          <a:lstStyle/>
          <a:p>
            <a:r>
              <a:rPr lang="en-US" dirty="0"/>
              <a:t>Towards a fully-staffed, flexible workforce</a:t>
            </a:r>
          </a:p>
        </p:txBody>
      </p:sp>
      <p:sp>
        <p:nvSpPr>
          <p:cNvPr id="3" name="Subtitle 2">
            <a:extLst>
              <a:ext uri="{FF2B5EF4-FFF2-40B4-BE49-F238E27FC236}">
                <a16:creationId xmlns:a16="http://schemas.microsoft.com/office/drawing/2014/main" id="{3E44D9BE-1A83-4866-B25F-E5BD3242219E}"/>
              </a:ext>
            </a:extLst>
          </p:cNvPr>
          <p:cNvSpPr>
            <a:spLocks noGrp="1"/>
          </p:cNvSpPr>
          <p:nvPr>
            <p:ph type="subTitle" idx="1"/>
          </p:nvPr>
        </p:nvSpPr>
        <p:spPr/>
        <p:txBody>
          <a:bodyPr vert="horz" lIns="91440" tIns="45720" rIns="91440" bIns="45720" rtlCol="0" anchor="t">
            <a:normAutofit/>
          </a:bodyPr>
          <a:lstStyle/>
          <a:p>
            <a:r>
              <a:rPr lang="en-US" dirty="0"/>
              <a:t>D268 Task 3</a:t>
            </a:r>
          </a:p>
          <a:p>
            <a:r>
              <a:rPr lang="en-US" dirty="0"/>
              <a:t>William Jackson</a:t>
            </a:r>
          </a:p>
          <a:p>
            <a:endParaRPr lang="en-US" dirty="0">
              <a:cs typeface="Calibri"/>
            </a:endParaRPr>
          </a:p>
        </p:txBody>
      </p:sp>
    </p:spTree>
    <p:extLst>
      <p:ext uri="{BB962C8B-B14F-4D97-AF65-F5344CB8AC3E}">
        <p14:creationId xmlns:p14="http://schemas.microsoft.com/office/powerpoint/2010/main" val="3965285966"/>
      </p:ext>
    </p:extLst>
  </p:cSld>
  <p:clrMapOvr>
    <a:masterClrMapping/>
  </p:clrMapOvr>
  <mc:AlternateContent xmlns:mc="http://schemas.openxmlformats.org/markup-compatibility/2006" xmlns:p14="http://schemas.microsoft.com/office/powerpoint/2010/main">
    <mc:Choice Requires="p14">
      <p:transition spd="slow" p14:dur="2000" advTm="8444"/>
    </mc:Choice>
    <mc:Fallback xmlns="">
      <p:transition spd="slow" advTm="844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5F3DA-D1A7-4DEC-A539-33D60F62439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18286F9-769B-4CAF-A29C-096C02C9D78C}"/>
              </a:ext>
            </a:extLst>
          </p:cNvPr>
          <p:cNvSpPr>
            <a:spLocks noGrp="1"/>
          </p:cNvSpPr>
          <p:nvPr>
            <p:ph idx="1"/>
          </p:nvPr>
        </p:nvSpPr>
        <p:spPr/>
        <p:txBody>
          <a:bodyPr vert="horz" lIns="91440" tIns="45720" rIns="91440" bIns="45720" rtlCol="0" anchor="t">
            <a:normAutofit fontScale="70000" lnSpcReduction="20000"/>
          </a:bodyPr>
          <a:lstStyle/>
          <a:p>
            <a:pPr marL="0" indent="0" algn="ctr">
              <a:buNone/>
            </a:pPr>
            <a:r>
              <a:rPr lang="en-ID" b="1" i="1" dirty="0"/>
              <a:t>“98% of workers want to work remote at least some of the time…</a:t>
            </a:r>
          </a:p>
          <a:p>
            <a:pPr marL="0" indent="0" algn="ctr">
              <a:buNone/>
            </a:pPr>
            <a:r>
              <a:rPr lang="en-ID" b="1" i="1" dirty="0"/>
              <a:t>57% of workers would look for a new job if their current company didn’t allow remote work” (</a:t>
            </a:r>
            <a:r>
              <a:rPr lang="en-ID" b="1" i="1" dirty="0" err="1"/>
              <a:t>Haan</a:t>
            </a:r>
            <a:r>
              <a:rPr lang="en-ID" b="1" i="1" dirty="0"/>
              <a:t>, 2023)</a:t>
            </a:r>
          </a:p>
          <a:p>
            <a:pPr marL="0" indent="0" algn="ctr">
              <a:buNone/>
            </a:pPr>
            <a:r>
              <a:rPr lang="en-ID" b="1" i="1" dirty="0"/>
              <a:t>								 </a:t>
            </a:r>
            <a:endParaRPr lang="en-ID" b="1" dirty="0"/>
          </a:p>
          <a:p>
            <a:r>
              <a:rPr lang="en-US" dirty="0">
                <a:cs typeface="Calibri" panose="020F0502020204030204"/>
              </a:rPr>
              <a:t>The problem: Improving office attendance without hurting recruitment and retention efforts</a:t>
            </a:r>
          </a:p>
          <a:p>
            <a:r>
              <a:rPr lang="en-US" dirty="0">
                <a:cs typeface="Calibri" panose="020F0502020204030204"/>
              </a:rPr>
              <a:t>Solution addresses office attendance and recruitment</a:t>
            </a:r>
          </a:p>
          <a:p>
            <a:pPr lvl="1"/>
            <a:r>
              <a:rPr lang="en-US" dirty="0">
                <a:cs typeface="Calibri" panose="020F0502020204030204"/>
              </a:rPr>
              <a:t>Role-based model</a:t>
            </a:r>
          </a:p>
          <a:p>
            <a:pPr lvl="1"/>
            <a:r>
              <a:rPr lang="en-US" dirty="0">
                <a:cs typeface="Calibri" panose="020F0502020204030204"/>
              </a:rPr>
              <a:t>Hub &amp; Spoke model</a:t>
            </a:r>
          </a:p>
          <a:p>
            <a:r>
              <a:rPr lang="en-US" dirty="0">
                <a:cs typeface="Calibri" panose="020F0502020204030204"/>
              </a:rPr>
              <a:t>Implementation</a:t>
            </a:r>
          </a:p>
          <a:p>
            <a:pPr lvl="1"/>
            <a:r>
              <a:rPr lang="en-US" dirty="0">
                <a:cs typeface="Calibri" panose="020F0502020204030204"/>
              </a:rPr>
              <a:t>Review every role for remote fit</a:t>
            </a:r>
          </a:p>
          <a:p>
            <a:pPr lvl="1"/>
            <a:r>
              <a:rPr lang="en-US" dirty="0">
                <a:cs typeface="Calibri" panose="020F0502020204030204"/>
              </a:rPr>
              <a:t>Regional offices</a:t>
            </a:r>
          </a:p>
          <a:p>
            <a:pPr lvl="1"/>
            <a:r>
              <a:rPr lang="en-US" dirty="0">
                <a:cs typeface="Calibri" panose="020F0502020204030204"/>
              </a:rPr>
              <a:t>Relocation packages</a:t>
            </a:r>
          </a:p>
          <a:p>
            <a:pPr lvl="1"/>
            <a:endParaRPr lang="en-US" dirty="0">
              <a:cs typeface="Calibri" panose="020F0502020204030204"/>
            </a:endParaRPr>
          </a:p>
          <a:p>
            <a:pPr lvl="1"/>
            <a:endParaRPr lang="en-US" dirty="0">
              <a:cs typeface="Calibri" panose="020F0502020204030204"/>
            </a:endParaRPr>
          </a:p>
        </p:txBody>
      </p:sp>
      <p:pic>
        <p:nvPicPr>
          <p:cNvPr id="1030" name="Picture 6" descr="Puzzle game and missing pieces on blue background - 47545853">
            <a:extLst>
              <a:ext uri="{FF2B5EF4-FFF2-40B4-BE49-F238E27FC236}">
                <a16:creationId xmlns:a16="http://schemas.microsoft.com/office/drawing/2014/main" id="{87929409-BFBE-919B-2EA4-4AC11B3BD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862" y="3741038"/>
            <a:ext cx="3334246" cy="22211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AC822C1-F459-6A86-2F56-9F8F84657BF1}"/>
              </a:ext>
            </a:extLst>
          </p:cNvPr>
          <p:cNvSpPr txBox="1"/>
          <p:nvPr/>
        </p:nvSpPr>
        <p:spPr>
          <a:xfrm>
            <a:off x="10197108" y="5684149"/>
            <a:ext cx="1994892" cy="369332"/>
          </a:xfrm>
          <a:prstGeom prst="rect">
            <a:avLst/>
          </a:prstGeom>
          <a:noFill/>
        </p:spPr>
        <p:txBody>
          <a:bodyPr wrap="square" rtlCol="0">
            <a:spAutoFit/>
          </a:bodyPr>
          <a:lstStyle/>
          <a:p>
            <a:r>
              <a:rPr lang="en-US" dirty="0"/>
              <a:t>(123rf.com, 2023)</a:t>
            </a:r>
          </a:p>
        </p:txBody>
      </p:sp>
    </p:spTree>
    <p:extLst>
      <p:ext uri="{BB962C8B-B14F-4D97-AF65-F5344CB8AC3E}">
        <p14:creationId xmlns:p14="http://schemas.microsoft.com/office/powerpoint/2010/main" val="2596099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19EF5-5C6E-42EE-BE77-04555DE7B247}"/>
              </a:ext>
            </a:extLst>
          </p:cNvPr>
          <p:cNvSpPr>
            <a:spLocks noGrp="1"/>
          </p:cNvSpPr>
          <p:nvPr>
            <p:ph type="title"/>
          </p:nvPr>
        </p:nvSpPr>
        <p:spPr/>
        <p:txBody>
          <a:bodyPr/>
          <a:lstStyle/>
          <a:p>
            <a:r>
              <a:rPr lang="en-US" dirty="0"/>
              <a:t>The Problems</a:t>
            </a:r>
          </a:p>
        </p:txBody>
      </p:sp>
      <p:sp>
        <p:nvSpPr>
          <p:cNvPr id="3" name="Content Placeholder 2">
            <a:extLst>
              <a:ext uri="{FF2B5EF4-FFF2-40B4-BE49-F238E27FC236}">
                <a16:creationId xmlns:a16="http://schemas.microsoft.com/office/drawing/2014/main" id="{E89793DF-7A33-4391-BF36-955162496B7C}"/>
              </a:ext>
            </a:extLst>
          </p:cNvPr>
          <p:cNvSpPr>
            <a:spLocks noGrp="1"/>
          </p:cNvSpPr>
          <p:nvPr>
            <p:ph idx="1"/>
          </p:nvPr>
        </p:nvSpPr>
        <p:spPr>
          <a:xfrm>
            <a:off x="1534696" y="2231241"/>
            <a:ext cx="9520158" cy="3450613"/>
          </a:xfrm>
        </p:spPr>
        <p:txBody>
          <a:bodyPr vert="horz" lIns="91440" tIns="45720" rIns="91440" bIns="45720" rtlCol="0" anchor="t">
            <a:normAutofit/>
          </a:bodyPr>
          <a:lstStyle/>
          <a:p>
            <a:r>
              <a:rPr lang="en-US" dirty="0">
                <a:cs typeface="Calibri" panose="020F0502020204030204"/>
              </a:rPr>
              <a:t>Recruitment challenges</a:t>
            </a:r>
          </a:p>
          <a:p>
            <a:r>
              <a:rPr lang="en-US" dirty="0">
                <a:cs typeface="Calibri" panose="020F0502020204030204"/>
              </a:rPr>
              <a:t>Retention challenges</a:t>
            </a:r>
          </a:p>
          <a:p>
            <a:r>
              <a:rPr lang="en-US" dirty="0">
                <a:cs typeface="Calibri" panose="020F0502020204030204"/>
              </a:rPr>
              <a:t>Low levels of voluntary office attendance</a:t>
            </a:r>
          </a:p>
        </p:txBody>
      </p:sp>
      <p:pic>
        <p:nvPicPr>
          <p:cNvPr id="2050" name="Picture 2" descr="tech_recruitment_challenges - Alcor BPO">
            <a:extLst>
              <a:ext uri="{FF2B5EF4-FFF2-40B4-BE49-F238E27FC236}">
                <a16:creationId xmlns:a16="http://schemas.microsoft.com/office/drawing/2014/main" id="{8A0B1B71-9902-2166-92AF-07DCE32A0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100" y="1853754"/>
            <a:ext cx="4914900" cy="35106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AC3CAC-B40E-8242-8B4C-4E7DD47A9A96}"/>
              </a:ext>
            </a:extLst>
          </p:cNvPr>
          <p:cNvSpPr txBox="1"/>
          <p:nvPr/>
        </p:nvSpPr>
        <p:spPr>
          <a:xfrm>
            <a:off x="10287000" y="5497188"/>
            <a:ext cx="2070100" cy="369332"/>
          </a:xfrm>
          <a:prstGeom prst="rect">
            <a:avLst/>
          </a:prstGeom>
          <a:noFill/>
        </p:spPr>
        <p:txBody>
          <a:bodyPr wrap="square" rtlCol="0">
            <a:spAutoFit/>
          </a:bodyPr>
          <a:lstStyle/>
          <a:p>
            <a:r>
              <a:rPr lang="en-US" dirty="0"/>
              <a:t>(</a:t>
            </a:r>
            <a:r>
              <a:rPr lang="en-US" dirty="0" err="1"/>
              <a:t>Panchuk</a:t>
            </a:r>
            <a:r>
              <a:rPr lang="en-US" dirty="0"/>
              <a:t>, 2022)</a:t>
            </a:r>
          </a:p>
        </p:txBody>
      </p:sp>
    </p:spTree>
    <p:extLst>
      <p:ext uri="{BB962C8B-B14F-4D97-AF65-F5344CB8AC3E}">
        <p14:creationId xmlns:p14="http://schemas.microsoft.com/office/powerpoint/2010/main" val="280492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64552-1D76-4F98-864E-3925235AF51E}"/>
              </a:ext>
            </a:extLst>
          </p:cNvPr>
          <p:cNvSpPr>
            <a:spLocks noGrp="1"/>
          </p:cNvSpPr>
          <p:nvPr>
            <p:ph type="title"/>
          </p:nvPr>
        </p:nvSpPr>
        <p:spPr/>
        <p:txBody>
          <a:bodyPr/>
          <a:lstStyle/>
          <a:p>
            <a:r>
              <a:rPr lang="en-US" dirty="0"/>
              <a:t>Proposal: Role model + hub-and-spoke model</a:t>
            </a:r>
          </a:p>
        </p:txBody>
      </p:sp>
      <p:sp>
        <p:nvSpPr>
          <p:cNvPr id="3" name="Content Placeholder 2">
            <a:extLst>
              <a:ext uri="{FF2B5EF4-FFF2-40B4-BE49-F238E27FC236}">
                <a16:creationId xmlns:a16="http://schemas.microsoft.com/office/drawing/2014/main" id="{8197094D-E5B8-4E18-A578-E4D222A4AD38}"/>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panose="020F0502020204030204"/>
              </a:rPr>
              <a:t>Role-based model</a:t>
            </a:r>
          </a:p>
          <a:p>
            <a:pPr lvl="1"/>
            <a:r>
              <a:rPr lang="en-US" dirty="0">
                <a:cs typeface="Calibri" panose="020F0502020204030204"/>
              </a:rPr>
              <a:t>Physical attendance requirement based on</a:t>
            </a:r>
          </a:p>
          <a:p>
            <a:pPr lvl="2"/>
            <a:r>
              <a:rPr lang="en-US" dirty="0">
                <a:cs typeface="Calibri" panose="020F0502020204030204"/>
              </a:rPr>
              <a:t>Rank</a:t>
            </a:r>
          </a:p>
          <a:p>
            <a:pPr lvl="2"/>
            <a:r>
              <a:rPr lang="en-US" dirty="0">
                <a:cs typeface="Calibri" panose="020F0502020204030204"/>
              </a:rPr>
              <a:t>Function</a:t>
            </a:r>
          </a:p>
          <a:p>
            <a:r>
              <a:rPr lang="en-US" dirty="0">
                <a:cs typeface="Calibri" panose="020F0502020204030204"/>
              </a:rPr>
              <a:t>Hub &amp; Spoke model</a:t>
            </a:r>
          </a:p>
          <a:p>
            <a:pPr lvl="1"/>
            <a:r>
              <a:rPr lang="en-US" dirty="0">
                <a:cs typeface="Calibri" panose="020F0502020204030204"/>
              </a:rPr>
              <a:t>Regional offices in areas of many employees and clients</a:t>
            </a:r>
          </a:p>
          <a:p>
            <a:r>
              <a:rPr lang="en-US" dirty="0">
                <a:cs typeface="Calibri" panose="020F0502020204030204"/>
              </a:rPr>
              <a:t>Effects</a:t>
            </a:r>
          </a:p>
          <a:p>
            <a:pPr lvl="1"/>
            <a:r>
              <a:rPr lang="en-US" dirty="0">
                <a:cs typeface="Calibri" panose="020F0502020204030204"/>
              </a:rPr>
              <a:t>Cost savings</a:t>
            </a:r>
          </a:p>
          <a:p>
            <a:pPr lvl="1"/>
            <a:r>
              <a:rPr lang="en-US" dirty="0">
                <a:cs typeface="Calibri" panose="020F0502020204030204"/>
              </a:rPr>
              <a:t>Recruitment advantage</a:t>
            </a:r>
          </a:p>
          <a:p>
            <a:pPr lvl="1"/>
            <a:r>
              <a:rPr lang="en-US" dirty="0">
                <a:cs typeface="Calibri" panose="020F0502020204030204"/>
              </a:rPr>
              <a:t>Adequate physical attendance</a:t>
            </a:r>
          </a:p>
          <a:p>
            <a:endParaRPr lang="en-US" dirty="0">
              <a:cs typeface="Calibri" panose="020F0502020204030204"/>
            </a:endParaRPr>
          </a:p>
        </p:txBody>
      </p:sp>
      <p:pic>
        <p:nvPicPr>
          <p:cNvPr id="3074" name="Picture 2" descr="Hub and Spoke Office Model">
            <a:extLst>
              <a:ext uri="{FF2B5EF4-FFF2-40B4-BE49-F238E27FC236}">
                <a16:creationId xmlns:a16="http://schemas.microsoft.com/office/drawing/2014/main" id="{E0DDCE66-21D1-DBCD-0C77-25D0B8E48A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5600" y="2063260"/>
            <a:ext cx="3676649" cy="40590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E050FA-EC62-CE1D-BAA6-43A4A377E1DD}"/>
              </a:ext>
            </a:extLst>
          </p:cNvPr>
          <p:cNvSpPr txBox="1"/>
          <p:nvPr/>
        </p:nvSpPr>
        <p:spPr>
          <a:xfrm>
            <a:off x="9601200" y="6122326"/>
            <a:ext cx="2692400" cy="369332"/>
          </a:xfrm>
          <a:prstGeom prst="rect">
            <a:avLst/>
          </a:prstGeom>
          <a:noFill/>
        </p:spPr>
        <p:txBody>
          <a:bodyPr wrap="square" rtlCol="0">
            <a:spAutoFit/>
          </a:bodyPr>
          <a:lstStyle/>
          <a:p>
            <a:r>
              <a:rPr lang="en-US" dirty="0"/>
              <a:t>(Hickey &amp; </a:t>
            </a:r>
            <a:r>
              <a:rPr lang="en-US" dirty="0" err="1"/>
              <a:t>Douetil</a:t>
            </a:r>
            <a:r>
              <a:rPr lang="en-US" dirty="0"/>
              <a:t>, 2021)</a:t>
            </a:r>
          </a:p>
        </p:txBody>
      </p:sp>
    </p:spTree>
    <p:extLst>
      <p:ext uri="{BB962C8B-B14F-4D97-AF65-F5344CB8AC3E}">
        <p14:creationId xmlns:p14="http://schemas.microsoft.com/office/powerpoint/2010/main" val="21997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FCA28-DB87-4B81-B650-CAA7E13D5F37}"/>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9BC5647C-E4CA-41EC-87E0-1C0F87034D94}"/>
              </a:ext>
            </a:extLst>
          </p:cNvPr>
          <p:cNvSpPr>
            <a:spLocks noGrp="1"/>
          </p:cNvSpPr>
          <p:nvPr>
            <p:ph idx="1"/>
          </p:nvPr>
        </p:nvSpPr>
        <p:spPr>
          <a:xfrm>
            <a:off x="1179096" y="1964932"/>
            <a:ext cx="9520158" cy="3450613"/>
          </a:xfrm>
        </p:spPr>
        <p:txBody>
          <a:bodyPr vert="horz" lIns="91440" tIns="45720" rIns="91440" bIns="45720" rtlCol="0" anchor="t">
            <a:normAutofit/>
          </a:bodyPr>
          <a:lstStyle/>
          <a:p>
            <a:pPr lvl="1"/>
            <a:r>
              <a:rPr lang="en-US" dirty="0">
                <a:cs typeface="Calibri" panose="020F0502020204030204"/>
              </a:rPr>
              <a:t>Review every role for remote fit</a:t>
            </a:r>
          </a:p>
          <a:p>
            <a:pPr lvl="1"/>
            <a:r>
              <a:rPr lang="en-US" dirty="0">
                <a:cs typeface="Calibri" panose="020F0502020204030204"/>
              </a:rPr>
              <a:t>Regional offices</a:t>
            </a:r>
          </a:p>
          <a:p>
            <a:pPr lvl="2"/>
            <a:r>
              <a:rPr lang="en-US" dirty="0">
                <a:cs typeface="Calibri" panose="020F0502020204030204"/>
              </a:rPr>
              <a:t>Employee concentration </a:t>
            </a:r>
          </a:p>
          <a:p>
            <a:pPr lvl="2"/>
            <a:r>
              <a:rPr lang="en-US" dirty="0">
                <a:cs typeface="Calibri" panose="020F0502020204030204"/>
              </a:rPr>
              <a:t>Client concentration</a:t>
            </a:r>
          </a:p>
          <a:p>
            <a:pPr lvl="1"/>
            <a:r>
              <a:rPr lang="en-US" dirty="0">
                <a:cs typeface="Calibri" panose="020F0502020204030204"/>
              </a:rPr>
              <a:t>Relocation package</a:t>
            </a:r>
          </a:p>
          <a:p>
            <a:pPr lvl="1"/>
            <a:r>
              <a:rPr lang="en-US" dirty="0">
                <a:cs typeface="Calibri" panose="020F0502020204030204"/>
              </a:rPr>
              <a:t>Aggressively recruit</a:t>
            </a:r>
          </a:p>
          <a:p>
            <a:endParaRPr lang="en-US" dirty="0">
              <a:cs typeface="Calibri" panose="020F0502020204030204"/>
            </a:endParaRPr>
          </a:p>
        </p:txBody>
      </p:sp>
      <p:pic>
        <p:nvPicPr>
          <p:cNvPr id="4" name="Picture 3">
            <a:extLst>
              <a:ext uri="{FF2B5EF4-FFF2-40B4-BE49-F238E27FC236}">
                <a16:creationId xmlns:a16="http://schemas.microsoft.com/office/drawing/2014/main" id="{1C464E5C-B071-A461-1A2C-1DC0F876FA8D}"/>
              </a:ext>
            </a:extLst>
          </p:cNvPr>
          <p:cNvPicPr>
            <a:picLocks noChangeAspect="1"/>
          </p:cNvPicPr>
          <p:nvPr/>
        </p:nvPicPr>
        <p:blipFill>
          <a:blip r:embed="rId3"/>
          <a:stretch>
            <a:fillRect/>
          </a:stretch>
        </p:blipFill>
        <p:spPr>
          <a:xfrm>
            <a:off x="4775200" y="3136043"/>
            <a:ext cx="7416800" cy="3007028"/>
          </a:xfrm>
          <a:prstGeom prst="rect">
            <a:avLst/>
          </a:prstGeom>
        </p:spPr>
      </p:pic>
      <p:sp>
        <p:nvSpPr>
          <p:cNvPr id="5" name="TextBox 4">
            <a:extLst>
              <a:ext uri="{FF2B5EF4-FFF2-40B4-BE49-F238E27FC236}">
                <a16:creationId xmlns:a16="http://schemas.microsoft.com/office/drawing/2014/main" id="{551F0FD4-DA6F-9226-C5B9-01C0512C3906}"/>
              </a:ext>
            </a:extLst>
          </p:cNvPr>
          <p:cNvSpPr txBox="1"/>
          <p:nvPr/>
        </p:nvSpPr>
        <p:spPr>
          <a:xfrm>
            <a:off x="9321800" y="6248400"/>
            <a:ext cx="2705100" cy="369332"/>
          </a:xfrm>
          <a:prstGeom prst="rect">
            <a:avLst/>
          </a:prstGeom>
          <a:noFill/>
        </p:spPr>
        <p:txBody>
          <a:bodyPr wrap="square" rtlCol="0">
            <a:spAutoFit/>
          </a:bodyPr>
          <a:lstStyle/>
          <a:p>
            <a:r>
              <a:rPr lang="en-US" dirty="0"/>
              <a:t>(https://</a:t>
            </a:r>
            <a:r>
              <a:rPr lang="en-US" dirty="0" err="1"/>
              <a:t>layoffs.fyi</a:t>
            </a:r>
            <a:r>
              <a:rPr lang="en-US" dirty="0"/>
              <a:t>, 2023)</a:t>
            </a:r>
          </a:p>
        </p:txBody>
      </p:sp>
    </p:spTree>
    <p:extLst>
      <p:ext uri="{BB962C8B-B14F-4D97-AF65-F5344CB8AC3E}">
        <p14:creationId xmlns:p14="http://schemas.microsoft.com/office/powerpoint/2010/main" val="360562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32199-C361-4968-B3D5-C31D0BA0E379}"/>
              </a:ext>
            </a:extLst>
          </p:cNvPr>
          <p:cNvSpPr>
            <a:spLocks noGrp="1"/>
          </p:cNvSpPr>
          <p:nvPr>
            <p:ph type="title"/>
          </p:nvPr>
        </p:nvSpPr>
        <p:spPr/>
        <p:txBody>
          <a:bodyPr/>
          <a:lstStyle/>
          <a:p>
            <a:r>
              <a:rPr lang="en-US" dirty="0"/>
              <a:t>Conclusion – a unique opportunity</a:t>
            </a:r>
          </a:p>
        </p:txBody>
      </p:sp>
      <p:sp>
        <p:nvSpPr>
          <p:cNvPr id="3" name="Content Placeholder 2">
            <a:extLst>
              <a:ext uri="{FF2B5EF4-FFF2-40B4-BE49-F238E27FC236}">
                <a16:creationId xmlns:a16="http://schemas.microsoft.com/office/drawing/2014/main" id="{2582C6EA-64EE-4766-BE19-A3D8A51A0659}"/>
              </a:ext>
            </a:extLst>
          </p:cNvPr>
          <p:cNvSpPr>
            <a:spLocks noGrp="1"/>
          </p:cNvSpPr>
          <p:nvPr>
            <p:ph idx="1"/>
          </p:nvPr>
        </p:nvSpPr>
        <p:spPr/>
        <p:txBody>
          <a:bodyPr vert="horz" lIns="91440" tIns="45720" rIns="91440" bIns="45720" rtlCol="0" anchor="t">
            <a:normAutofit/>
          </a:bodyPr>
          <a:lstStyle/>
          <a:p>
            <a:r>
              <a:rPr lang="en-US" dirty="0">
                <a:cs typeface="Calibri" panose="020F0502020204030204"/>
              </a:rPr>
              <a:t>Problems</a:t>
            </a:r>
          </a:p>
          <a:p>
            <a:pPr lvl="1"/>
            <a:r>
              <a:rPr lang="en-US" dirty="0">
                <a:cs typeface="Calibri" panose="020F0502020204030204"/>
              </a:rPr>
              <a:t>Recruitment</a:t>
            </a:r>
          </a:p>
          <a:p>
            <a:pPr lvl="1"/>
            <a:r>
              <a:rPr lang="en-US" dirty="0">
                <a:cs typeface="Calibri" panose="020F0502020204030204"/>
              </a:rPr>
              <a:t>Retention</a:t>
            </a:r>
          </a:p>
          <a:p>
            <a:pPr lvl="1"/>
            <a:r>
              <a:rPr lang="en-US" dirty="0">
                <a:cs typeface="Calibri" panose="020F0502020204030204"/>
              </a:rPr>
              <a:t>Low voluntary office attendance</a:t>
            </a:r>
          </a:p>
          <a:p>
            <a:r>
              <a:rPr lang="en-US" dirty="0">
                <a:cs typeface="Calibri" panose="020F0502020204030204"/>
              </a:rPr>
              <a:t>Solutions</a:t>
            </a:r>
          </a:p>
          <a:p>
            <a:pPr lvl="1"/>
            <a:r>
              <a:rPr lang="en-US" dirty="0">
                <a:cs typeface="Calibri" panose="020F0502020204030204"/>
              </a:rPr>
              <a:t>Role-based model</a:t>
            </a:r>
          </a:p>
          <a:p>
            <a:pPr lvl="1"/>
            <a:r>
              <a:rPr lang="en-US" dirty="0">
                <a:cs typeface="Calibri" panose="020F0502020204030204"/>
              </a:rPr>
              <a:t>Hub-and-spoke model</a:t>
            </a:r>
          </a:p>
          <a:p>
            <a:pPr lvl="1"/>
            <a:r>
              <a:rPr lang="en-US" dirty="0">
                <a:cs typeface="Calibri" panose="020F0502020204030204"/>
              </a:rPr>
              <a:t>Seize the present moment of recruiting available tech talent</a:t>
            </a:r>
          </a:p>
          <a:p>
            <a:endParaRPr lang="en-US" dirty="0">
              <a:cs typeface="Calibri" panose="020F0502020204030204"/>
            </a:endParaRPr>
          </a:p>
          <a:p>
            <a:pPr lvl="1"/>
            <a:endParaRPr lang="en-US" dirty="0">
              <a:cs typeface="Calibri" panose="020F0502020204030204"/>
            </a:endParaRPr>
          </a:p>
        </p:txBody>
      </p:sp>
      <p:pic>
        <p:nvPicPr>
          <p:cNvPr id="4098" name="Picture 2" descr="Puzzles grid - blank template. Jigsaw puzzle with 60 pieces. Mosaic background for thinking game is 10x6 size. Game with details. Vector illustration.">
            <a:extLst>
              <a:ext uri="{FF2B5EF4-FFF2-40B4-BE49-F238E27FC236}">
                <a16:creationId xmlns:a16="http://schemas.microsoft.com/office/drawing/2014/main" id="{74B53D46-8E53-A25D-4351-AF1FF68BD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9869" y="1957191"/>
            <a:ext cx="4906030" cy="29436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9182ECC-AFE5-7A21-E35B-D81E3C58F07E}"/>
              </a:ext>
            </a:extLst>
          </p:cNvPr>
          <p:cNvSpPr txBox="1"/>
          <p:nvPr/>
        </p:nvSpPr>
        <p:spPr>
          <a:xfrm>
            <a:off x="8864600" y="5029200"/>
            <a:ext cx="2984500" cy="369332"/>
          </a:xfrm>
          <a:prstGeom prst="rect">
            <a:avLst/>
          </a:prstGeom>
          <a:noFill/>
        </p:spPr>
        <p:txBody>
          <a:bodyPr wrap="square" rtlCol="0">
            <a:spAutoFit/>
          </a:bodyPr>
          <a:lstStyle/>
          <a:p>
            <a:r>
              <a:rPr lang="en-US" dirty="0"/>
              <a:t>(</a:t>
            </a:r>
            <a:r>
              <a:rPr lang="en-US" dirty="0" err="1"/>
              <a:t>stock.adobe.com</a:t>
            </a:r>
            <a:r>
              <a:rPr lang="en-US" dirty="0"/>
              <a:t>, 2023a)</a:t>
            </a:r>
          </a:p>
        </p:txBody>
      </p:sp>
    </p:spTree>
    <p:extLst>
      <p:ext uri="{BB962C8B-B14F-4D97-AF65-F5344CB8AC3E}">
        <p14:creationId xmlns:p14="http://schemas.microsoft.com/office/powerpoint/2010/main" val="315885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429D7-4841-4E68-8E59-8F555BFF9CD7}"/>
              </a:ext>
            </a:extLst>
          </p:cNvPr>
          <p:cNvSpPr>
            <a:spLocks noGrp="1"/>
          </p:cNvSpPr>
          <p:nvPr>
            <p:ph type="title"/>
          </p:nvPr>
        </p:nvSpPr>
        <p:spPr>
          <a:xfrm>
            <a:off x="1534696" y="342420"/>
            <a:ext cx="9520158" cy="1049235"/>
          </a:xfrm>
        </p:spPr>
        <p:txBody>
          <a:bodyPr/>
          <a:lstStyle/>
          <a:p>
            <a:r>
              <a:rPr lang="en-US" dirty="0"/>
              <a:t>References</a:t>
            </a:r>
          </a:p>
        </p:txBody>
      </p:sp>
      <p:sp>
        <p:nvSpPr>
          <p:cNvPr id="3" name="Content Placeholder 2">
            <a:extLst>
              <a:ext uri="{FF2B5EF4-FFF2-40B4-BE49-F238E27FC236}">
                <a16:creationId xmlns:a16="http://schemas.microsoft.com/office/drawing/2014/main" id="{EEB6F479-C317-450F-B1E5-4470128544E2}"/>
              </a:ext>
            </a:extLst>
          </p:cNvPr>
          <p:cNvSpPr>
            <a:spLocks noGrp="1"/>
          </p:cNvSpPr>
          <p:nvPr>
            <p:ph idx="1"/>
          </p:nvPr>
        </p:nvSpPr>
        <p:spPr>
          <a:xfrm>
            <a:off x="1534696" y="1391655"/>
            <a:ext cx="9520158" cy="3916945"/>
          </a:xfrm>
        </p:spPr>
        <p:txBody>
          <a:bodyPr vert="horz" lIns="91440" tIns="45720" rIns="91440" bIns="45720" rtlCol="0" anchor="t">
            <a:normAutofit fontScale="70000" lnSpcReduction="20000"/>
          </a:bodyPr>
          <a:lstStyle/>
          <a:p>
            <a:r>
              <a:rPr lang="en-US" dirty="0"/>
              <a:t>123rf.com (2023). </a:t>
            </a:r>
            <a:r>
              <a:rPr lang="en-US" dirty="0">
                <a:hlinkClick r:id="rId3"/>
              </a:rPr>
              <a:t>https://www.123rf.com/photo_47545853_puzzle-game-and-missing-pieces-on-blue-	</a:t>
            </a:r>
            <a:r>
              <a:rPr lang="en-US" dirty="0" err="1">
                <a:hlinkClick r:id="rId3"/>
              </a:rPr>
              <a:t>background.htm</a:t>
            </a:r>
            <a:r>
              <a:rPr lang="en-US" dirty="0" err="1"/>
              <a:t>l</a:t>
            </a:r>
            <a:endParaRPr lang="en-US" dirty="0"/>
          </a:p>
          <a:p>
            <a:r>
              <a:rPr lang="en-US" dirty="0" err="1"/>
              <a:t>Stock.adobe.com</a:t>
            </a:r>
            <a:r>
              <a:rPr lang="en-US" dirty="0"/>
              <a:t> (2023) 						</a:t>
            </a:r>
            <a:r>
              <a:rPr lang="en-US" u="sng" dirty="0">
                <a:hlinkClick r:id="rId4"/>
              </a:rPr>
              <a:t>https://stock.adobe.com/pe/images/puzzles-grid-blank-template-jigsaw-puzzle-with-60-pieces-mosaic-	background-for-thinking-game-is-10x6-size-game-with-details-vector-illustration/277250910</a:t>
            </a:r>
            <a:endParaRPr lang="en-US" u="sng" dirty="0"/>
          </a:p>
          <a:p>
            <a:r>
              <a:rPr lang="en-US" dirty="0" err="1"/>
              <a:t>Haan</a:t>
            </a:r>
            <a:r>
              <a:rPr lang="en-US" dirty="0"/>
              <a:t>, Kathy (</a:t>
            </a:r>
            <a:r>
              <a:rPr lang="en-ID" dirty="0"/>
              <a:t>2023, June 12</a:t>
            </a:r>
            <a:r>
              <a:rPr lang="en-US" dirty="0"/>
              <a:t>). </a:t>
            </a:r>
            <a:r>
              <a:rPr lang="en-ID" dirty="0"/>
              <a:t>Remote Work Statistics And Trends In 2023.</a:t>
            </a:r>
            <a:r>
              <a:rPr lang="en-ID" i="1" dirty="0"/>
              <a:t> Forbes. 	</a:t>
            </a:r>
            <a:r>
              <a:rPr lang="en-ID" dirty="0">
                <a:hlinkClick r:id="rId5"/>
              </a:rPr>
              <a:t>https://www.forbes.com/advisor/business/remote-work-statistics/</a:t>
            </a:r>
            <a:r>
              <a:rPr lang="en-ID" dirty="0"/>
              <a:t>.</a:t>
            </a:r>
          </a:p>
          <a:p>
            <a:r>
              <a:rPr lang="en-ID" dirty="0">
                <a:effectLst/>
              </a:rPr>
              <a:t>Hickey, David &amp; Guy </a:t>
            </a:r>
            <a:r>
              <a:rPr lang="en-ID" dirty="0" err="1">
                <a:effectLst/>
              </a:rPr>
              <a:t>Douetil</a:t>
            </a:r>
            <a:r>
              <a:rPr lang="en-ID" dirty="0"/>
              <a:t> (2021). Adapting to Agility: Leveraging a “Hub and Spoke” 	Model</a:t>
            </a:r>
            <a:r>
              <a:rPr lang="en-ID" b="1" dirty="0"/>
              <a:t>.  	</a:t>
            </a:r>
            <a:r>
              <a:rPr lang="en-ID" dirty="0">
                <a:hlinkClick r:id="rId6"/>
              </a:rPr>
              <a:t>https://www.areadevelopment.com/workplace-trends/workforce-q4-2021/adapting-to-agility-leveraging-</a:t>
            </a:r>
            <a:r>
              <a:rPr lang="en-ID" dirty="0"/>
              <a:t>	</a:t>
            </a:r>
            <a:r>
              <a:rPr lang="en-ID" dirty="0">
                <a:hlinkClick r:id="rId7"/>
              </a:rPr>
              <a:t>hub-spoke-model.shtml</a:t>
            </a:r>
            <a:r>
              <a:rPr lang="en-ID" dirty="0"/>
              <a:t> </a:t>
            </a:r>
          </a:p>
          <a:p>
            <a:r>
              <a:rPr lang="en-US" dirty="0" err="1"/>
              <a:t>Panchuk</a:t>
            </a:r>
            <a:r>
              <a:rPr lang="en-US" dirty="0"/>
              <a:t>, Marina (</a:t>
            </a:r>
            <a:r>
              <a:rPr lang="en-ID" dirty="0"/>
              <a:t>2022, November 22</a:t>
            </a:r>
            <a:r>
              <a:rPr lang="en-US" dirty="0"/>
              <a:t>). </a:t>
            </a:r>
            <a:r>
              <a:rPr lang="en-ID" dirty="0"/>
              <a:t>7 Common IT Recruitment Challenges and How to Solve Them. </a:t>
            </a:r>
            <a:r>
              <a:rPr lang="en-ID" dirty="0" err="1"/>
              <a:t>Alcor</a:t>
            </a:r>
            <a:r>
              <a:rPr lang="en-ID" dirty="0"/>
              <a:t>.</a:t>
            </a:r>
            <a:r>
              <a:rPr lang="en-ID" b="1" dirty="0"/>
              <a:t> </a:t>
            </a:r>
          </a:p>
          <a:p>
            <a:pPr marL="914400" lvl="2" indent="0">
              <a:buNone/>
            </a:pPr>
            <a:r>
              <a:rPr lang="en-ID" sz="2000" dirty="0">
                <a:hlinkClick r:id="rId8"/>
              </a:rPr>
              <a:t>https://alcor-bpo.com/recruitment-news/7-common-it-recruitment-challenges-and-how-</a:t>
            </a:r>
            <a:r>
              <a:rPr lang="en-ID" sz="2000" dirty="0">
                <a:hlinkClick r:id="rId9"/>
              </a:rPr>
              <a:t>to-solve-them</a:t>
            </a:r>
            <a:endParaRPr lang="en-ID" sz="2000" dirty="0"/>
          </a:p>
          <a:p>
            <a:r>
              <a:rPr lang="en-ID" dirty="0"/>
              <a:t>Tech Layoffs in 2022-2023 (2023, October 21). </a:t>
            </a:r>
            <a:r>
              <a:rPr lang="en-ID" dirty="0">
                <a:hlinkClick r:id="rId10"/>
              </a:rPr>
              <a:t>https://layoffs.fyi/</a:t>
            </a:r>
            <a:r>
              <a:rPr lang="en-ID" dirty="0"/>
              <a:t> </a:t>
            </a:r>
            <a:r>
              <a:rPr lang="en-ID" i="1" dirty="0"/>
              <a:t>	</a:t>
            </a:r>
            <a:endParaRPr lang="en-US" dirty="0"/>
          </a:p>
        </p:txBody>
      </p:sp>
    </p:spTree>
    <p:extLst>
      <p:ext uri="{BB962C8B-B14F-4D97-AF65-F5344CB8AC3E}">
        <p14:creationId xmlns:p14="http://schemas.microsoft.com/office/powerpoint/2010/main" val="356864981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BC5002AFCB7E46BAF73E9A815C6C0B" ma:contentTypeVersion="24" ma:contentTypeDescription="Create a new document." ma:contentTypeScope="" ma:versionID="b27c6f58839bfef4bad59f4d0f72ed45">
  <xsd:schema xmlns:xsd="http://www.w3.org/2001/XMLSchema" xmlns:xs="http://www.w3.org/2001/XMLSchema" xmlns:p="http://schemas.microsoft.com/office/2006/metadata/properties" xmlns:ns1="http://schemas.microsoft.com/sharepoint/v3" xmlns:ns2="455c6a40-5156-4ee1-b6e1-75a9942fd30d" xmlns:ns3="5dbce95a-b870-4f3c-86f9-0deb968cc4b5" targetNamespace="http://schemas.microsoft.com/office/2006/metadata/properties" ma:root="true" ma:fieldsID="490fb9eeac8a79c9dd9069dbae148df6" ns1:_="" ns2:_="" ns3:_="">
    <xsd:import namespace="http://schemas.microsoft.com/sharepoint/v3"/>
    <xsd:import namespace="455c6a40-5156-4ee1-b6e1-75a9942fd30d"/>
    <xsd:import namespace="5dbce95a-b870-4f3c-86f9-0deb968cc4b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Tags" minOccurs="0"/>
                <xsd:element ref="ns2:MediaServiceOCR"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1:_ip_UnifiedCompliancePolicyProperties" minOccurs="0"/>
                <xsd:element ref="ns1:_ip_UnifiedCompliancePolicyUIAction" minOccurs="0"/>
                <xsd:element ref="ns3:TaxCatchAll" minOccurs="0"/>
                <xsd:element ref="ns2:lcf76f155ced4ddcb4097134ff3c332f"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5c6a40-5156-4ee1-b6e1-75a9942fd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acb2b71a-ac8b-4347-9f63-f75d234e2459" ma:termSetId="09814cd3-568e-fe90-9814-8d621ff8fb84" ma:anchorId="fba54fb3-c3e1-fe81-a776-ca4b69148c4d" ma:open="true" ma:isKeyword="false">
      <xsd:complexType>
        <xsd:sequence>
          <xsd:element ref="pc:Terms" minOccurs="0" maxOccurs="1"/>
        </xsd:sequence>
      </xsd:complexType>
    </xsd:element>
    <xsd:element name="Notes" ma:index="26" nillable="true" ma:displayName="Notes "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bce95a-b870-4f3c-86f9-0deb968cc4b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c2b290c-d895-40c0-8c28-54a180c62a3d}" ma:internalName="TaxCatchAll" ma:showField="CatchAllData" ma:web="5dbce95a-b870-4f3c-86f9-0deb968cc4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dbce95a-b870-4f3c-86f9-0deb968cc4b5" xsi:nil="true"/>
    <_ip_UnifiedCompliancePolicyProperties xmlns="http://schemas.microsoft.com/sharepoint/v3" xsi:nil="true"/>
    <Notes xmlns="455c6a40-5156-4ee1-b6e1-75a9942fd30d" xsi:nil="true"/>
    <lcf76f155ced4ddcb4097134ff3c332f xmlns="455c6a40-5156-4ee1-b6e1-75a9942fd30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8C7F809-A785-4313-97C4-C855EA093C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5c6a40-5156-4ee1-b6e1-75a9942fd30d"/>
    <ds:schemaRef ds:uri="5dbce95a-b870-4f3c-86f9-0deb968cc4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C3FF2AA-9E68-49BB-BE5F-10D8B5E2C65D}">
  <ds:schemaRefs>
    <ds:schemaRef ds:uri="http://schemas.microsoft.com/sharepoint/v3/contenttype/forms"/>
  </ds:schemaRefs>
</ds:datastoreItem>
</file>

<file path=customXml/itemProps3.xml><?xml version="1.0" encoding="utf-8"?>
<ds:datastoreItem xmlns:ds="http://schemas.openxmlformats.org/officeDocument/2006/customXml" ds:itemID="{ADBEC761-E8A3-475B-90E8-4D16ECDBC369}">
  <ds:schemaRef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455c6a40-5156-4ee1-b6e1-75a9942fd30d"/>
    <ds:schemaRef ds:uri="http://schemas.microsoft.com/office/infopath/2007/PartnerControls"/>
    <ds:schemaRef ds:uri="5dbce95a-b870-4f3c-86f9-0deb968cc4b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{7996DD82-BAF0-2647-8F1E-35039BEACA19}tf10001119</Template>
  <TotalTime>1429</TotalTime>
  <Words>1336</Words>
  <Application>Microsoft Macintosh PowerPoint</Application>
  <PresentationFormat>Widescreen</PresentationFormat>
  <Paragraphs>117</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Helvetica Neue</vt:lpstr>
      <vt:lpstr>Palatino Linotype</vt:lpstr>
      <vt:lpstr>Symbol</vt:lpstr>
      <vt:lpstr>Gallery</vt:lpstr>
      <vt:lpstr>Towards a fully-staffed, flexible workforce</vt:lpstr>
      <vt:lpstr>Introduction</vt:lpstr>
      <vt:lpstr>The Problems</vt:lpstr>
      <vt:lpstr>Proposal: Role model + hub-and-spoke model</vt:lpstr>
      <vt:lpstr>Implementation</vt:lpstr>
      <vt:lpstr>Conclusion – a unique opportunity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Here are tips for your presentation, which you should complete on the following slides.</dc:title>
  <dc:creator>Diana Tucker</dc:creator>
  <cp:lastModifiedBy>William Jackson</cp:lastModifiedBy>
  <cp:revision>5</cp:revision>
  <dcterms:created xsi:type="dcterms:W3CDTF">2021-12-21T13:25:42Z</dcterms:created>
  <dcterms:modified xsi:type="dcterms:W3CDTF">2023-10-22T19:39:19Z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0x010100ECBC5002AFCB7E46BAF73E9A815C6C0B</vt:lpwstr>
  </property>
  <property fmtid="{D5CDD505-2E9C-101B-9397-08002B2CF9AE}" pid="3" name="MediaServiceImageTags">
    <vt:lpwstr/>
  </property>
</Properties>
</file>